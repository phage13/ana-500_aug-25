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57" r:id="rId3"/>
    <p:sldId id="258" r:id="rId4"/>
    <p:sldId id="259" r:id="rId5"/>
    <p:sldId id="264" r:id="rId6"/>
    <p:sldId id="265" r:id="rId7"/>
    <p:sldId id="260" r:id="rId8"/>
    <p:sldId id="266" r:id="rId9"/>
    <p:sldId id="267" r:id="rId10"/>
    <p:sldId id="261" r:id="rId11"/>
    <p:sldId id="268" r:id="rId12"/>
    <p:sldId id="269" r:id="rId13"/>
    <p:sldId id="270" r:id="rId14"/>
    <p:sldId id="271" r:id="rId15"/>
    <p:sldId id="272" r:id="rId16"/>
    <p:sldId id="274" r:id="rId17"/>
    <p:sldId id="273" r:id="rId18"/>
    <p:sldId id="275" r:id="rId19"/>
    <p:sldId id="276" r:id="rId20"/>
    <p:sldId id="262" r:id="rId21"/>
    <p:sldId id="277" r:id="rId22"/>
    <p:sldId id="278" r:id="rId23"/>
    <p:sldId id="279" r:id="rId24"/>
    <p:sldId id="280" r:id="rId25"/>
    <p:sldId id="283" r:id="rId26"/>
    <p:sldId id="282" r:id="rId27"/>
    <p:sldId id="284" r:id="rId28"/>
    <p:sldId id="263" r:id="rId29"/>
    <p:sldId id="281"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A7E1F5-27AD-4116-8274-4B446F5C8A54}" v="24" dt="2025-08-31T18:18:54.7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32" autoAdjust="0"/>
    <p:restoredTop sz="94660"/>
  </p:normalViewPr>
  <p:slideViewPr>
    <p:cSldViewPr snapToGrid="0">
      <p:cViewPr>
        <p:scale>
          <a:sx n="75" d="100"/>
          <a:sy n="75" d="100"/>
        </p:scale>
        <p:origin x="-192" y="6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RCS LLC" userId="b991293488bff69a" providerId="LiveId" clId="{BFA7E1F5-27AD-4116-8274-4B446F5C8A54}"/>
    <pc:docChg chg="undo custSel addSld modSld sldOrd">
      <pc:chgData name="LRCS LLC" userId="b991293488bff69a" providerId="LiveId" clId="{BFA7E1F5-27AD-4116-8274-4B446F5C8A54}" dt="2025-08-31T18:23:06.816" v="324" actId="20577"/>
      <pc:docMkLst>
        <pc:docMk/>
      </pc:docMkLst>
      <pc:sldChg chg="modSp mod">
        <pc:chgData name="LRCS LLC" userId="b991293488bff69a" providerId="LiveId" clId="{BFA7E1F5-27AD-4116-8274-4B446F5C8A54}" dt="2025-08-31T14:41:43.117" v="20" actId="20577"/>
        <pc:sldMkLst>
          <pc:docMk/>
          <pc:sldMk cId="3651251486" sldId="256"/>
        </pc:sldMkLst>
        <pc:spChg chg="mod">
          <ac:chgData name="LRCS LLC" userId="b991293488bff69a" providerId="LiveId" clId="{BFA7E1F5-27AD-4116-8274-4B446F5C8A54}" dt="2025-08-31T14:41:43.117" v="20" actId="20577"/>
          <ac:spMkLst>
            <pc:docMk/>
            <pc:sldMk cId="3651251486" sldId="256"/>
            <ac:spMk id="2" creationId="{9FEFD3DB-B193-4E72-861B-FE835A2E1FAD}"/>
          </ac:spMkLst>
        </pc:spChg>
      </pc:sldChg>
      <pc:sldChg chg="modSp mod">
        <pc:chgData name="LRCS LLC" userId="b991293488bff69a" providerId="LiveId" clId="{BFA7E1F5-27AD-4116-8274-4B446F5C8A54}" dt="2025-08-31T18:22:25.325" v="323" actId="113"/>
        <pc:sldMkLst>
          <pc:docMk/>
          <pc:sldMk cId="4024108741" sldId="263"/>
        </pc:sldMkLst>
        <pc:spChg chg="mod">
          <ac:chgData name="LRCS LLC" userId="b991293488bff69a" providerId="LiveId" clId="{BFA7E1F5-27AD-4116-8274-4B446F5C8A54}" dt="2025-08-31T18:19:04.358" v="275" actId="1076"/>
          <ac:spMkLst>
            <pc:docMk/>
            <pc:sldMk cId="4024108741" sldId="263"/>
            <ac:spMk id="2" creationId="{7998C1A2-E365-4EAD-A777-10EF9BD2588C}"/>
          </ac:spMkLst>
        </pc:spChg>
        <pc:spChg chg="mod">
          <ac:chgData name="LRCS LLC" userId="b991293488bff69a" providerId="LiveId" clId="{BFA7E1F5-27AD-4116-8274-4B446F5C8A54}" dt="2025-08-31T18:22:25.325" v="323" actId="113"/>
          <ac:spMkLst>
            <pc:docMk/>
            <pc:sldMk cId="4024108741" sldId="263"/>
            <ac:spMk id="3" creationId="{83DC0D0A-FDCC-4561-A8EB-1F836A94AACC}"/>
          </ac:spMkLst>
        </pc:spChg>
      </pc:sldChg>
      <pc:sldChg chg="modSp mod">
        <pc:chgData name="LRCS LLC" userId="b991293488bff69a" providerId="LiveId" clId="{BFA7E1F5-27AD-4116-8274-4B446F5C8A54}" dt="2025-08-31T18:23:06.816" v="324" actId="20577"/>
        <pc:sldMkLst>
          <pc:docMk/>
          <pc:sldMk cId="1677665322" sldId="279"/>
        </pc:sldMkLst>
        <pc:spChg chg="mod">
          <ac:chgData name="LRCS LLC" userId="b991293488bff69a" providerId="LiveId" clId="{BFA7E1F5-27AD-4116-8274-4B446F5C8A54}" dt="2025-08-31T18:23:06.816" v="324" actId="20577"/>
          <ac:spMkLst>
            <pc:docMk/>
            <pc:sldMk cId="1677665322" sldId="279"/>
            <ac:spMk id="2" creationId="{6C9D511E-A0D9-1FEF-51D0-CC9E9CC7BC91}"/>
          </ac:spMkLst>
        </pc:spChg>
      </pc:sldChg>
      <pc:sldChg chg="addSp delSp modSp add mod ord">
        <pc:chgData name="LRCS LLC" userId="b991293488bff69a" providerId="LiveId" clId="{BFA7E1F5-27AD-4116-8274-4B446F5C8A54}" dt="2025-08-31T18:14:27.239" v="174" actId="20577"/>
        <pc:sldMkLst>
          <pc:docMk/>
          <pc:sldMk cId="2012360876" sldId="282"/>
        </pc:sldMkLst>
        <pc:spChg chg="mod">
          <ac:chgData name="LRCS LLC" userId="b991293488bff69a" providerId="LiveId" clId="{BFA7E1F5-27AD-4116-8274-4B446F5C8A54}" dt="2025-08-31T18:14:27.239" v="174" actId="20577"/>
          <ac:spMkLst>
            <pc:docMk/>
            <pc:sldMk cId="2012360876" sldId="282"/>
            <ac:spMk id="2" creationId="{BC2457F9-1CD9-7508-168C-87188EB9C5A0}"/>
          </ac:spMkLst>
        </pc:spChg>
        <pc:picChg chg="add mod">
          <ac:chgData name="LRCS LLC" userId="b991293488bff69a" providerId="LiveId" clId="{BFA7E1F5-27AD-4116-8274-4B446F5C8A54}" dt="2025-08-31T17:31:14.977" v="94" actId="1076"/>
          <ac:picMkLst>
            <pc:docMk/>
            <pc:sldMk cId="2012360876" sldId="282"/>
            <ac:picMk id="4" creationId="{2170F22F-BB69-0CD8-7449-A181A4A13ED7}"/>
          </ac:picMkLst>
        </pc:picChg>
        <pc:picChg chg="del">
          <ac:chgData name="LRCS LLC" userId="b991293488bff69a" providerId="LiveId" clId="{BFA7E1F5-27AD-4116-8274-4B446F5C8A54}" dt="2025-08-31T16:22:02.877" v="22" actId="478"/>
          <ac:picMkLst>
            <pc:docMk/>
            <pc:sldMk cId="2012360876" sldId="282"/>
            <ac:picMk id="5" creationId="{8D925912-AEDC-633D-E1AD-261BEEB28883}"/>
          </ac:picMkLst>
        </pc:picChg>
      </pc:sldChg>
      <pc:sldChg chg="addSp delSp modSp add mod">
        <pc:chgData name="LRCS LLC" userId="b991293488bff69a" providerId="LiveId" clId="{BFA7E1F5-27AD-4116-8274-4B446F5C8A54}" dt="2025-08-31T18:18:18.271" v="271" actId="33524"/>
        <pc:sldMkLst>
          <pc:docMk/>
          <pc:sldMk cId="595308128" sldId="283"/>
        </pc:sldMkLst>
        <pc:spChg chg="mod">
          <ac:chgData name="LRCS LLC" userId="b991293488bff69a" providerId="LiveId" clId="{BFA7E1F5-27AD-4116-8274-4B446F5C8A54}" dt="2025-08-31T17:27:15.895" v="44" actId="14100"/>
          <ac:spMkLst>
            <pc:docMk/>
            <pc:sldMk cId="595308128" sldId="283"/>
            <ac:spMk id="2" creationId="{13E0D56D-AD76-324D-9583-DB7C8E6C8B42}"/>
          </ac:spMkLst>
        </pc:spChg>
        <pc:spChg chg="add mod">
          <ac:chgData name="LRCS LLC" userId="b991293488bff69a" providerId="LiveId" clId="{BFA7E1F5-27AD-4116-8274-4B446F5C8A54}" dt="2025-08-31T18:18:18.271" v="271" actId="33524"/>
          <ac:spMkLst>
            <pc:docMk/>
            <pc:sldMk cId="595308128" sldId="283"/>
            <ac:spMk id="6" creationId="{A1B5FAEA-689F-EA1E-CFEA-80CC0BAC5D37}"/>
          </ac:spMkLst>
        </pc:spChg>
        <pc:picChg chg="del">
          <ac:chgData name="LRCS LLC" userId="b991293488bff69a" providerId="LiveId" clId="{BFA7E1F5-27AD-4116-8274-4B446F5C8A54}" dt="2025-08-31T17:25:27.959" v="37" actId="478"/>
          <ac:picMkLst>
            <pc:docMk/>
            <pc:sldMk cId="595308128" sldId="283"/>
            <ac:picMk id="4" creationId="{E929914B-7883-2948-7249-2084662720E6}"/>
          </ac:picMkLst>
        </pc:picChg>
        <pc:picChg chg="add del mod">
          <ac:chgData name="LRCS LLC" userId="b991293488bff69a" providerId="LiveId" clId="{BFA7E1F5-27AD-4116-8274-4B446F5C8A54}" dt="2025-08-31T17:48:20.209" v="125" actId="478"/>
          <ac:picMkLst>
            <pc:docMk/>
            <pc:sldMk cId="595308128" sldId="283"/>
            <ac:picMk id="5" creationId="{57334FDE-04E1-217F-6C31-AE00AB9F89E2}"/>
          </ac:picMkLst>
        </pc:picChg>
        <pc:picChg chg="add del mod">
          <ac:chgData name="LRCS LLC" userId="b991293488bff69a" providerId="LiveId" clId="{BFA7E1F5-27AD-4116-8274-4B446F5C8A54}" dt="2025-08-31T18:03:52.862" v="139" actId="478"/>
          <ac:picMkLst>
            <pc:docMk/>
            <pc:sldMk cId="595308128" sldId="283"/>
            <ac:picMk id="1026" creationId="{3A1E591C-E37A-CE93-D42D-75D895A553C6}"/>
          </ac:picMkLst>
        </pc:picChg>
        <pc:picChg chg="add del mod">
          <ac:chgData name="LRCS LLC" userId="b991293488bff69a" providerId="LiveId" clId="{BFA7E1F5-27AD-4116-8274-4B446F5C8A54}" dt="2025-08-31T18:03:52.862" v="139" actId="478"/>
          <ac:picMkLst>
            <pc:docMk/>
            <pc:sldMk cId="595308128" sldId="283"/>
            <ac:picMk id="1028" creationId="{607008F0-99B6-20F7-2701-5C5B9D260866}"/>
          </ac:picMkLst>
        </pc:picChg>
        <pc:picChg chg="add mod">
          <ac:chgData name="LRCS LLC" userId="b991293488bff69a" providerId="LiveId" clId="{BFA7E1F5-27AD-4116-8274-4B446F5C8A54}" dt="2025-08-31T18:04:13.702" v="145" actId="14100"/>
          <ac:picMkLst>
            <pc:docMk/>
            <pc:sldMk cId="595308128" sldId="283"/>
            <ac:picMk id="1030" creationId="{69F496D2-C88C-63E3-A696-D39E5E17A138}"/>
          </ac:picMkLst>
        </pc:picChg>
      </pc:sldChg>
      <pc:sldChg chg="add">
        <pc:chgData name="LRCS LLC" userId="b991293488bff69a" providerId="LiveId" clId="{BFA7E1F5-27AD-4116-8274-4B446F5C8A54}" dt="2025-08-31T17:49:34.932" v="129" actId="2890"/>
        <pc:sldMkLst>
          <pc:docMk/>
          <pc:sldMk cId="2354251901" sldId="28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19FD6F-D2E8-4329-A9EA-486770FDF8B0}" type="datetimeFigureOut">
              <a:rPr lang="en-US" smtClean="0"/>
              <a:t>8/31/2025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835C25-5902-476C-8093-BE955E9604CD}" type="slidenum">
              <a:rPr lang="en-US" smtClean="0"/>
              <a:t>‹#›</a:t>
            </a:fld>
            <a:endParaRPr lang="en-US"/>
          </a:p>
        </p:txBody>
      </p:sp>
    </p:spTree>
    <p:extLst>
      <p:ext uri="{BB962C8B-B14F-4D97-AF65-F5344CB8AC3E}">
        <p14:creationId xmlns:p14="http://schemas.microsoft.com/office/powerpoint/2010/main" val="2508243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Problem statement – state the occurrence or phenomena that you are attempting describe using data science</a:t>
            </a:r>
          </a:p>
          <a:p>
            <a:endParaRPr lang="en-US" dirty="0"/>
          </a:p>
        </p:txBody>
      </p:sp>
      <p:sp>
        <p:nvSpPr>
          <p:cNvPr id="4" name="Slide Number Placeholder 3"/>
          <p:cNvSpPr>
            <a:spLocks noGrp="1"/>
          </p:cNvSpPr>
          <p:nvPr>
            <p:ph type="sldNum" sz="quarter" idx="5"/>
          </p:nvPr>
        </p:nvSpPr>
        <p:spPr/>
        <p:txBody>
          <a:bodyPr/>
          <a:lstStyle/>
          <a:p>
            <a:fld id="{15835C25-5902-476C-8093-BE955E9604CD}" type="slidenum">
              <a:rPr lang="en-US" smtClean="0"/>
              <a:t>2</a:t>
            </a:fld>
            <a:endParaRPr lang="en-US"/>
          </a:p>
        </p:txBody>
      </p:sp>
    </p:spTree>
    <p:extLst>
      <p:ext uri="{BB962C8B-B14F-4D97-AF65-F5344CB8AC3E}">
        <p14:creationId xmlns:p14="http://schemas.microsoft.com/office/powerpoint/2010/main" val="23398221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Hypothesis formulation – a suggested explanation to the problem statement</a:t>
            </a:r>
          </a:p>
          <a:p>
            <a:endParaRPr lang="en-US" dirty="0"/>
          </a:p>
        </p:txBody>
      </p:sp>
      <p:sp>
        <p:nvSpPr>
          <p:cNvPr id="4" name="Slide Number Placeholder 3"/>
          <p:cNvSpPr>
            <a:spLocks noGrp="1"/>
          </p:cNvSpPr>
          <p:nvPr>
            <p:ph type="sldNum" sz="quarter" idx="5"/>
          </p:nvPr>
        </p:nvSpPr>
        <p:spPr/>
        <p:txBody>
          <a:bodyPr/>
          <a:lstStyle/>
          <a:p>
            <a:fld id="{15835C25-5902-476C-8093-BE955E9604CD}" type="slidenum">
              <a:rPr lang="en-US" smtClean="0"/>
              <a:t>3</a:t>
            </a:fld>
            <a:endParaRPr lang="en-US"/>
          </a:p>
        </p:txBody>
      </p:sp>
    </p:spTree>
    <p:extLst>
      <p:ext uri="{BB962C8B-B14F-4D97-AF65-F5344CB8AC3E}">
        <p14:creationId xmlns:p14="http://schemas.microsoft.com/office/powerpoint/2010/main" val="21079580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84A48-ED60-4C3D-8040-EA420D1376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950468-0315-4B9D-B09C-8C8C8EBD6A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77C4A60-6695-4CB3-AF2E-ACFA3C0B87F1}"/>
              </a:ext>
            </a:extLst>
          </p:cNvPr>
          <p:cNvSpPr>
            <a:spLocks noGrp="1"/>
          </p:cNvSpPr>
          <p:nvPr>
            <p:ph type="dt" sz="half" idx="10"/>
          </p:nvPr>
        </p:nvSpPr>
        <p:spPr/>
        <p:txBody>
          <a:bodyPr/>
          <a:lstStyle/>
          <a:p>
            <a:fld id="{3F52AFC1-4F45-459D-BC95-0F8F5E3A4294}" type="datetimeFigureOut">
              <a:rPr lang="en-US" smtClean="0"/>
              <a:t>8/31/2025</a:t>
            </a:fld>
            <a:endParaRPr lang="en-US"/>
          </a:p>
        </p:txBody>
      </p:sp>
      <p:sp>
        <p:nvSpPr>
          <p:cNvPr id="5" name="Footer Placeholder 4">
            <a:extLst>
              <a:ext uri="{FF2B5EF4-FFF2-40B4-BE49-F238E27FC236}">
                <a16:creationId xmlns:a16="http://schemas.microsoft.com/office/drawing/2014/main" id="{842D2078-2F8D-45FB-9C14-17036DA5D3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DD9676-FA59-4F47-9033-2CFC7976370A}"/>
              </a:ext>
            </a:extLst>
          </p:cNvPr>
          <p:cNvSpPr>
            <a:spLocks noGrp="1"/>
          </p:cNvSpPr>
          <p:nvPr>
            <p:ph type="sldNum" sz="quarter" idx="12"/>
          </p:nvPr>
        </p:nvSpPr>
        <p:spPr/>
        <p:txBody>
          <a:bodyPr/>
          <a:lstStyle/>
          <a:p>
            <a:fld id="{7BC5D697-CC64-4CAF-A466-D1105DD36B62}" type="slidenum">
              <a:rPr lang="en-US" smtClean="0"/>
              <a:t>‹#›</a:t>
            </a:fld>
            <a:endParaRPr lang="en-US"/>
          </a:p>
        </p:txBody>
      </p:sp>
    </p:spTree>
    <p:extLst>
      <p:ext uri="{BB962C8B-B14F-4D97-AF65-F5344CB8AC3E}">
        <p14:creationId xmlns:p14="http://schemas.microsoft.com/office/powerpoint/2010/main" val="21914204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04559-4EA9-4030-8CD7-225515C39D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A446E6-DF6C-44D2-BA71-5D6445655C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F5ECAD-0D49-425E-99BE-4E9A279761FE}"/>
              </a:ext>
            </a:extLst>
          </p:cNvPr>
          <p:cNvSpPr>
            <a:spLocks noGrp="1"/>
          </p:cNvSpPr>
          <p:nvPr>
            <p:ph type="dt" sz="half" idx="10"/>
          </p:nvPr>
        </p:nvSpPr>
        <p:spPr/>
        <p:txBody>
          <a:bodyPr/>
          <a:lstStyle/>
          <a:p>
            <a:fld id="{3F52AFC1-4F45-459D-BC95-0F8F5E3A4294}" type="datetimeFigureOut">
              <a:rPr lang="en-US" smtClean="0"/>
              <a:t>8/31/2025</a:t>
            </a:fld>
            <a:endParaRPr lang="en-US"/>
          </a:p>
        </p:txBody>
      </p:sp>
      <p:sp>
        <p:nvSpPr>
          <p:cNvPr id="5" name="Footer Placeholder 4">
            <a:extLst>
              <a:ext uri="{FF2B5EF4-FFF2-40B4-BE49-F238E27FC236}">
                <a16:creationId xmlns:a16="http://schemas.microsoft.com/office/drawing/2014/main" id="{01B6268D-3BF4-472B-B1D5-5184896743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BF4C8E-AFA1-48CB-9BE5-583A37660428}"/>
              </a:ext>
            </a:extLst>
          </p:cNvPr>
          <p:cNvSpPr>
            <a:spLocks noGrp="1"/>
          </p:cNvSpPr>
          <p:nvPr>
            <p:ph type="sldNum" sz="quarter" idx="12"/>
          </p:nvPr>
        </p:nvSpPr>
        <p:spPr/>
        <p:txBody>
          <a:bodyPr/>
          <a:lstStyle/>
          <a:p>
            <a:fld id="{7BC5D697-CC64-4CAF-A466-D1105DD36B62}" type="slidenum">
              <a:rPr lang="en-US" smtClean="0"/>
              <a:t>‹#›</a:t>
            </a:fld>
            <a:endParaRPr lang="en-US"/>
          </a:p>
        </p:txBody>
      </p:sp>
    </p:spTree>
    <p:extLst>
      <p:ext uri="{BB962C8B-B14F-4D97-AF65-F5344CB8AC3E}">
        <p14:creationId xmlns:p14="http://schemas.microsoft.com/office/powerpoint/2010/main" val="2624279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CC60D-06AE-4839-A5F6-DB50DF8789E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B8C870F-1989-4744-AA64-C97EBC3080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3CF60B-312D-4E68-B904-78A68C9AF98E}"/>
              </a:ext>
            </a:extLst>
          </p:cNvPr>
          <p:cNvSpPr>
            <a:spLocks noGrp="1"/>
          </p:cNvSpPr>
          <p:nvPr>
            <p:ph type="dt" sz="half" idx="10"/>
          </p:nvPr>
        </p:nvSpPr>
        <p:spPr/>
        <p:txBody>
          <a:bodyPr/>
          <a:lstStyle/>
          <a:p>
            <a:fld id="{3F52AFC1-4F45-459D-BC95-0F8F5E3A4294}" type="datetimeFigureOut">
              <a:rPr lang="en-US" smtClean="0"/>
              <a:t>8/31/2025</a:t>
            </a:fld>
            <a:endParaRPr lang="en-US"/>
          </a:p>
        </p:txBody>
      </p:sp>
      <p:sp>
        <p:nvSpPr>
          <p:cNvPr id="5" name="Footer Placeholder 4">
            <a:extLst>
              <a:ext uri="{FF2B5EF4-FFF2-40B4-BE49-F238E27FC236}">
                <a16:creationId xmlns:a16="http://schemas.microsoft.com/office/drawing/2014/main" id="{0A05CA4F-B8D7-4A59-A5BA-74DF90CC1D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1BAD61-51E4-4D1D-8E14-1EB20C0ECB7D}"/>
              </a:ext>
            </a:extLst>
          </p:cNvPr>
          <p:cNvSpPr>
            <a:spLocks noGrp="1"/>
          </p:cNvSpPr>
          <p:nvPr>
            <p:ph type="sldNum" sz="quarter" idx="12"/>
          </p:nvPr>
        </p:nvSpPr>
        <p:spPr/>
        <p:txBody>
          <a:bodyPr/>
          <a:lstStyle/>
          <a:p>
            <a:fld id="{7BC5D697-CC64-4CAF-A466-D1105DD36B62}" type="slidenum">
              <a:rPr lang="en-US" smtClean="0"/>
              <a:t>‹#›</a:t>
            </a:fld>
            <a:endParaRPr lang="en-US"/>
          </a:p>
        </p:txBody>
      </p:sp>
    </p:spTree>
    <p:extLst>
      <p:ext uri="{BB962C8B-B14F-4D97-AF65-F5344CB8AC3E}">
        <p14:creationId xmlns:p14="http://schemas.microsoft.com/office/powerpoint/2010/main" val="2333503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51454-95B8-455D-BFC1-6C6DA36031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3FBC0B-D342-4647-B5BA-5B6ADF294E2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969BC10-2FBB-4372-AE80-21EC4AB47A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9FE6231-D355-4CB0-AB68-1D21D4EB6ACF}"/>
              </a:ext>
            </a:extLst>
          </p:cNvPr>
          <p:cNvSpPr>
            <a:spLocks noGrp="1"/>
          </p:cNvSpPr>
          <p:nvPr>
            <p:ph type="dt" sz="half" idx="10"/>
          </p:nvPr>
        </p:nvSpPr>
        <p:spPr/>
        <p:txBody>
          <a:bodyPr/>
          <a:lstStyle/>
          <a:p>
            <a:fld id="{3F52AFC1-4F45-459D-BC95-0F8F5E3A4294}" type="datetimeFigureOut">
              <a:rPr lang="en-US" smtClean="0"/>
              <a:t>8/31/2025</a:t>
            </a:fld>
            <a:endParaRPr lang="en-US"/>
          </a:p>
        </p:txBody>
      </p:sp>
      <p:sp>
        <p:nvSpPr>
          <p:cNvPr id="6" name="Footer Placeholder 5">
            <a:extLst>
              <a:ext uri="{FF2B5EF4-FFF2-40B4-BE49-F238E27FC236}">
                <a16:creationId xmlns:a16="http://schemas.microsoft.com/office/drawing/2014/main" id="{AB01BF01-A233-43E9-8949-BAADCAF957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EA8DA2-49A7-4CD4-AD2A-B4AE89F09C29}"/>
              </a:ext>
            </a:extLst>
          </p:cNvPr>
          <p:cNvSpPr>
            <a:spLocks noGrp="1"/>
          </p:cNvSpPr>
          <p:nvPr>
            <p:ph type="sldNum" sz="quarter" idx="12"/>
          </p:nvPr>
        </p:nvSpPr>
        <p:spPr/>
        <p:txBody>
          <a:bodyPr/>
          <a:lstStyle/>
          <a:p>
            <a:fld id="{7BC5D697-CC64-4CAF-A466-D1105DD36B62}" type="slidenum">
              <a:rPr lang="en-US" smtClean="0"/>
              <a:t>‹#›</a:t>
            </a:fld>
            <a:endParaRPr lang="en-US"/>
          </a:p>
        </p:txBody>
      </p:sp>
    </p:spTree>
    <p:extLst>
      <p:ext uri="{BB962C8B-B14F-4D97-AF65-F5344CB8AC3E}">
        <p14:creationId xmlns:p14="http://schemas.microsoft.com/office/powerpoint/2010/main" val="464572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A6AAD-2645-4527-94B3-3A3BECB9281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7031552-937E-4EAB-883E-C29FBC415B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3455D9-4697-44D3-AB55-9CADBE716D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258DC7D-BF9A-4F54-AB58-1C49FFA17D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D3AE0C-DB47-4E16-828A-3429714FADD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B3C3C45-525E-4801-90AF-776B7EFC5ADB}"/>
              </a:ext>
            </a:extLst>
          </p:cNvPr>
          <p:cNvSpPr>
            <a:spLocks noGrp="1"/>
          </p:cNvSpPr>
          <p:nvPr>
            <p:ph type="dt" sz="half" idx="10"/>
          </p:nvPr>
        </p:nvSpPr>
        <p:spPr/>
        <p:txBody>
          <a:bodyPr/>
          <a:lstStyle/>
          <a:p>
            <a:fld id="{3F52AFC1-4F45-459D-BC95-0F8F5E3A4294}" type="datetimeFigureOut">
              <a:rPr lang="en-US" smtClean="0"/>
              <a:t>8/31/2025</a:t>
            </a:fld>
            <a:endParaRPr lang="en-US"/>
          </a:p>
        </p:txBody>
      </p:sp>
      <p:sp>
        <p:nvSpPr>
          <p:cNvPr id="8" name="Footer Placeholder 7">
            <a:extLst>
              <a:ext uri="{FF2B5EF4-FFF2-40B4-BE49-F238E27FC236}">
                <a16:creationId xmlns:a16="http://schemas.microsoft.com/office/drawing/2014/main" id="{F3B6704D-F5BC-4598-B7E7-5F53967A678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2D9A6A6-BB3C-4DD0-A205-F8593CED1076}"/>
              </a:ext>
            </a:extLst>
          </p:cNvPr>
          <p:cNvSpPr>
            <a:spLocks noGrp="1"/>
          </p:cNvSpPr>
          <p:nvPr>
            <p:ph type="sldNum" sz="quarter" idx="12"/>
          </p:nvPr>
        </p:nvSpPr>
        <p:spPr/>
        <p:txBody>
          <a:bodyPr/>
          <a:lstStyle/>
          <a:p>
            <a:fld id="{7BC5D697-CC64-4CAF-A466-D1105DD36B62}" type="slidenum">
              <a:rPr lang="en-US" smtClean="0"/>
              <a:t>‹#›</a:t>
            </a:fld>
            <a:endParaRPr lang="en-US"/>
          </a:p>
        </p:txBody>
      </p:sp>
    </p:spTree>
    <p:extLst>
      <p:ext uri="{BB962C8B-B14F-4D97-AF65-F5344CB8AC3E}">
        <p14:creationId xmlns:p14="http://schemas.microsoft.com/office/powerpoint/2010/main" val="3108940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609AA-EE0C-4FE6-8E30-99E91A13B5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7DA744A-AA0E-40C1-82B4-1865879ADE95}"/>
              </a:ext>
            </a:extLst>
          </p:cNvPr>
          <p:cNvSpPr>
            <a:spLocks noGrp="1"/>
          </p:cNvSpPr>
          <p:nvPr>
            <p:ph type="dt" sz="half" idx="10"/>
          </p:nvPr>
        </p:nvSpPr>
        <p:spPr/>
        <p:txBody>
          <a:bodyPr/>
          <a:lstStyle/>
          <a:p>
            <a:fld id="{3F52AFC1-4F45-459D-BC95-0F8F5E3A4294}" type="datetimeFigureOut">
              <a:rPr lang="en-US" smtClean="0"/>
              <a:t>8/31/2025</a:t>
            </a:fld>
            <a:endParaRPr lang="en-US"/>
          </a:p>
        </p:txBody>
      </p:sp>
      <p:sp>
        <p:nvSpPr>
          <p:cNvPr id="4" name="Footer Placeholder 3">
            <a:extLst>
              <a:ext uri="{FF2B5EF4-FFF2-40B4-BE49-F238E27FC236}">
                <a16:creationId xmlns:a16="http://schemas.microsoft.com/office/drawing/2014/main" id="{AD1794A4-DA55-49C9-9EE1-51AFA79807A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3A595F-05DA-41C2-AFB0-CC51AFDB903E}"/>
              </a:ext>
            </a:extLst>
          </p:cNvPr>
          <p:cNvSpPr>
            <a:spLocks noGrp="1"/>
          </p:cNvSpPr>
          <p:nvPr>
            <p:ph type="sldNum" sz="quarter" idx="12"/>
          </p:nvPr>
        </p:nvSpPr>
        <p:spPr/>
        <p:txBody>
          <a:bodyPr/>
          <a:lstStyle/>
          <a:p>
            <a:fld id="{7BC5D697-CC64-4CAF-A466-D1105DD36B62}" type="slidenum">
              <a:rPr lang="en-US" smtClean="0"/>
              <a:t>‹#›</a:t>
            </a:fld>
            <a:endParaRPr lang="en-US"/>
          </a:p>
        </p:txBody>
      </p:sp>
    </p:spTree>
    <p:extLst>
      <p:ext uri="{BB962C8B-B14F-4D97-AF65-F5344CB8AC3E}">
        <p14:creationId xmlns:p14="http://schemas.microsoft.com/office/powerpoint/2010/main" val="1575772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5F4ACF-3F96-4D20-91DE-5A7A89B4A2B5}"/>
              </a:ext>
            </a:extLst>
          </p:cNvPr>
          <p:cNvSpPr>
            <a:spLocks noGrp="1"/>
          </p:cNvSpPr>
          <p:nvPr>
            <p:ph type="dt" sz="half" idx="10"/>
          </p:nvPr>
        </p:nvSpPr>
        <p:spPr/>
        <p:txBody>
          <a:bodyPr/>
          <a:lstStyle/>
          <a:p>
            <a:fld id="{3F52AFC1-4F45-459D-BC95-0F8F5E3A4294}" type="datetimeFigureOut">
              <a:rPr lang="en-US" smtClean="0"/>
              <a:t>8/31/2025</a:t>
            </a:fld>
            <a:endParaRPr lang="en-US"/>
          </a:p>
        </p:txBody>
      </p:sp>
      <p:sp>
        <p:nvSpPr>
          <p:cNvPr id="3" name="Footer Placeholder 2">
            <a:extLst>
              <a:ext uri="{FF2B5EF4-FFF2-40B4-BE49-F238E27FC236}">
                <a16:creationId xmlns:a16="http://schemas.microsoft.com/office/drawing/2014/main" id="{4D2B232B-2221-443B-9621-C2FFF416019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2970A4F-5257-4439-983C-D802F7190B32}"/>
              </a:ext>
            </a:extLst>
          </p:cNvPr>
          <p:cNvSpPr>
            <a:spLocks noGrp="1"/>
          </p:cNvSpPr>
          <p:nvPr>
            <p:ph type="sldNum" sz="quarter" idx="12"/>
          </p:nvPr>
        </p:nvSpPr>
        <p:spPr/>
        <p:txBody>
          <a:bodyPr/>
          <a:lstStyle/>
          <a:p>
            <a:fld id="{7BC5D697-CC64-4CAF-A466-D1105DD36B62}" type="slidenum">
              <a:rPr lang="en-US" smtClean="0"/>
              <a:t>‹#›</a:t>
            </a:fld>
            <a:endParaRPr lang="en-US"/>
          </a:p>
        </p:txBody>
      </p:sp>
    </p:spTree>
    <p:extLst>
      <p:ext uri="{BB962C8B-B14F-4D97-AF65-F5344CB8AC3E}">
        <p14:creationId xmlns:p14="http://schemas.microsoft.com/office/powerpoint/2010/main" val="30926921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5D602-AEC1-494B-9EC8-423C9605B1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2AC75CB-286B-4E0D-946F-B2152E792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6FE692-594E-4FE0-A040-69DCF74AAA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E66829-7538-463B-99D9-8920CBDF4060}"/>
              </a:ext>
            </a:extLst>
          </p:cNvPr>
          <p:cNvSpPr>
            <a:spLocks noGrp="1"/>
          </p:cNvSpPr>
          <p:nvPr>
            <p:ph type="dt" sz="half" idx="10"/>
          </p:nvPr>
        </p:nvSpPr>
        <p:spPr/>
        <p:txBody>
          <a:bodyPr/>
          <a:lstStyle/>
          <a:p>
            <a:fld id="{3F52AFC1-4F45-459D-BC95-0F8F5E3A4294}" type="datetimeFigureOut">
              <a:rPr lang="en-US" smtClean="0"/>
              <a:t>8/31/2025</a:t>
            </a:fld>
            <a:endParaRPr lang="en-US"/>
          </a:p>
        </p:txBody>
      </p:sp>
      <p:sp>
        <p:nvSpPr>
          <p:cNvPr id="6" name="Footer Placeholder 5">
            <a:extLst>
              <a:ext uri="{FF2B5EF4-FFF2-40B4-BE49-F238E27FC236}">
                <a16:creationId xmlns:a16="http://schemas.microsoft.com/office/drawing/2014/main" id="{EAB5AFDF-77FC-4354-AF3B-008607F927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77315B-5282-41D1-99A3-2ADE83DA19EE}"/>
              </a:ext>
            </a:extLst>
          </p:cNvPr>
          <p:cNvSpPr>
            <a:spLocks noGrp="1"/>
          </p:cNvSpPr>
          <p:nvPr>
            <p:ph type="sldNum" sz="quarter" idx="12"/>
          </p:nvPr>
        </p:nvSpPr>
        <p:spPr/>
        <p:txBody>
          <a:bodyPr/>
          <a:lstStyle/>
          <a:p>
            <a:fld id="{7BC5D697-CC64-4CAF-A466-D1105DD36B62}" type="slidenum">
              <a:rPr lang="en-US" smtClean="0"/>
              <a:t>‹#›</a:t>
            </a:fld>
            <a:endParaRPr lang="en-US"/>
          </a:p>
        </p:txBody>
      </p:sp>
    </p:spTree>
    <p:extLst>
      <p:ext uri="{BB962C8B-B14F-4D97-AF65-F5344CB8AC3E}">
        <p14:creationId xmlns:p14="http://schemas.microsoft.com/office/powerpoint/2010/main" val="3381724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77A91-0A20-466E-9CA8-86B63BE8AF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78C2C4C-22CA-4398-A23B-4F068FB5A7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33574D67-2A27-42C6-815E-BE5AD10D36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BB23AA-5E29-4400-B52D-822F13ED6B94}"/>
              </a:ext>
            </a:extLst>
          </p:cNvPr>
          <p:cNvSpPr>
            <a:spLocks noGrp="1"/>
          </p:cNvSpPr>
          <p:nvPr>
            <p:ph type="dt" sz="half" idx="10"/>
          </p:nvPr>
        </p:nvSpPr>
        <p:spPr/>
        <p:txBody>
          <a:bodyPr/>
          <a:lstStyle/>
          <a:p>
            <a:fld id="{3F52AFC1-4F45-459D-BC95-0F8F5E3A4294}" type="datetimeFigureOut">
              <a:rPr lang="en-US" smtClean="0"/>
              <a:t>8/31/2025</a:t>
            </a:fld>
            <a:endParaRPr lang="en-US"/>
          </a:p>
        </p:txBody>
      </p:sp>
      <p:sp>
        <p:nvSpPr>
          <p:cNvPr id="6" name="Footer Placeholder 5">
            <a:extLst>
              <a:ext uri="{FF2B5EF4-FFF2-40B4-BE49-F238E27FC236}">
                <a16:creationId xmlns:a16="http://schemas.microsoft.com/office/drawing/2014/main" id="{FA368ADC-B329-411C-AA83-9EEADAE8A9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78A6D9-A5FD-46E3-8F58-CDC4CC4B895B}"/>
              </a:ext>
            </a:extLst>
          </p:cNvPr>
          <p:cNvSpPr>
            <a:spLocks noGrp="1"/>
          </p:cNvSpPr>
          <p:nvPr>
            <p:ph type="sldNum" sz="quarter" idx="12"/>
          </p:nvPr>
        </p:nvSpPr>
        <p:spPr/>
        <p:txBody>
          <a:bodyPr/>
          <a:lstStyle/>
          <a:p>
            <a:fld id="{7BC5D697-CC64-4CAF-A466-D1105DD36B62}" type="slidenum">
              <a:rPr lang="en-US" smtClean="0"/>
              <a:t>‹#›</a:t>
            </a:fld>
            <a:endParaRPr lang="en-US"/>
          </a:p>
        </p:txBody>
      </p:sp>
    </p:spTree>
    <p:extLst>
      <p:ext uri="{BB962C8B-B14F-4D97-AF65-F5344CB8AC3E}">
        <p14:creationId xmlns:p14="http://schemas.microsoft.com/office/powerpoint/2010/main" val="37688247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59857-0725-4AFD-ADA1-93DE6885A96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A742F07-D500-4235-A3BD-4E9FA3C9269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AB7CF7-F61A-47E7-B601-419FF069E767}"/>
              </a:ext>
            </a:extLst>
          </p:cNvPr>
          <p:cNvSpPr>
            <a:spLocks noGrp="1"/>
          </p:cNvSpPr>
          <p:nvPr>
            <p:ph type="dt" sz="half" idx="10"/>
          </p:nvPr>
        </p:nvSpPr>
        <p:spPr/>
        <p:txBody>
          <a:bodyPr/>
          <a:lstStyle/>
          <a:p>
            <a:fld id="{3F52AFC1-4F45-459D-BC95-0F8F5E3A4294}" type="datetimeFigureOut">
              <a:rPr lang="en-US" smtClean="0"/>
              <a:t>8/31/2025</a:t>
            </a:fld>
            <a:endParaRPr lang="en-US"/>
          </a:p>
        </p:txBody>
      </p:sp>
      <p:sp>
        <p:nvSpPr>
          <p:cNvPr id="5" name="Footer Placeholder 4">
            <a:extLst>
              <a:ext uri="{FF2B5EF4-FFF2-40B4-BE49-F238E27FC236}">
                <a16:creationId xmlns:a16="http://schemas.microsoft.com/office/drawing/2014/main" id="{6918C1B3-4CDE-4267-AF19-9C2FCF8602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D38641-A10F-457F-B6A9-3F574B2B266E}"/>
              </a:ext>
            </a:extLst>
          </p:cNvPr>
          <p:cNvSpPr>
            <a:spLocks noGrp="1"/>
          </p:cNvSpPr>
          <p:nvPr>
            <p:ph type="sldNum" sz="quarter" idx="12"/>
          </p:nvPr>
        </p:nvSpPr>
        <p:spPr/>
        <p:txBody>
          <a:bodyPr/>
          <a:lstStyle/>
          <a:p>
            <a:fld id="{7BC5D697-CC64-4CAF-A466-D1105DD36B62}" type="slidenum">
              <a:rPr lang="en-US" smtClean="0"/>
              <a:t>‹#›</a:t>
            </a:fld>
            <a:endParaRPr lang="en-US"/>
          </a:p>
        </p:txBody>
      </p:sp>
    </p:spTree>
    <p:extLst>
      <p:ext uri="{BB962C8B-B14F-4D97-AF65-F5344CB8AC3E}">
        <p14:creationId xmlns:p14="http://schemas.microsoft.com/office/powerpoint/2010/main" val="4212471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3A314E-DAF4-459C-AF7B-C7347C76393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27BE33E-4004-41A3-B3E6-14272F53B3B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1A99DB-D8D6-44B2-B140-B5C0DD69889A}"/>
              </a:ext>
            </a:extLst>
          </p:cNvPr>
          <p:cNvSpPr>
            <a:spLocks noGrp="1"/>
          </p:cNvSpPr>
          <p:nvPr>
            <p:ph type="dt" sz="half" idx="10"/>
          </p:nvPr>
        </p:nvSpPr>
        <p:spPr/>
        <p:txBody>
          <a:bodyPr/>
          <a:lstStyle/>
          <a:p>
            <a:fld id="{3F52AFC1-4F45-459D-BC95-0F8F5E3A4294}" type="datetimeFigureOut">
              <a:rPr lang="en-US" smtClean="0"/>
              <a:t>8/31/2025</a:t>
            </a:fld>
            <a:endParaRPr lang="en-US"/>
          </a:p>
        </p:txBody>
      </p:sp>
      <p:sp>
        <p:nvSpPr>
          <p:cNvPr id="5" name="Footer Placeholder 4">
            <a:extLst>
              <a:ext uri="{FF2B5EF4-FFF2-40B4-BE49-F238E27FC236}">
                <a16:creationId xmlns:a16="http://schemas.microsoft.com/office/drawing/2014/main" id="{131BF21E-4345-40CE-88C3-7C77ECC010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1F20F6-FD42-49EE-AE17-171924F49826}"/>
              </a:ext>
            </a:extLst>
          </p:cNvPr>
          <p:cNvSpPr>
            <a:spLocks noGrp="1"/>
          </p:cNvSpPr>
          <p:nvPr>
            <p:ph type="sldNum" sz="quarter" idx="12"/>
          </p:nvPr>
        </p:nvSpPr>
        <p:spPr/>
        <p:txBody>
          <a:bodyPr/>
          <a:lstStyle/>
          <a:p>
            <a:fld id="{7BC5D697-CC64-4CAF-A466-D1105DD36B62}" type="slidenum">
              <a:rPr lang="en-US" smtClean="0"/>
              <a:t>‹#›</a:t>
            </a:fld>
            <a:endParaRPr lang="en-US"/>
          </a:p>
        </p:txBody>
      </p:sp>
    </p:spTree>
    <p:extLst>
      <p:ext uri="{BB962C8B-B14F-4D97-AF65-F5344CB8AC3E}">
        <p14:creationId xmlns:p14="http://schemas.microsoft.com/office/powerpoint/2010/main" val="253232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B5F7E3-61B5-4449-80CF-04DA4D37AB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CFC45A-DECF-4B86-87F6-C12B501A4F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C712EE-4BB3-49D3-9FAF-733EA6255E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52AFC1-4F45-459D-BC95-0F8F5E3A4294}" type="datetimeFigureOut">
              <a:rPr lang="en-US" smtClean="0"/>
              <a:t>8/31/2025</a:t>
            </a:fld>
            <a:endParaRPr lang="en-US"/>
          </a:p>
        </p:txBody>
      </p:sp>
      <p:sp>
        <p:nvSpPr>
          <p:cNvPr id="5" name="Footer Placeholder 4">
            <a:extLst>
              <a:ext uri="{FF2B5EF4-FFF2-40B4-BE49-F238E27FC236}">
                <a16:creationId xmlns:a16="http://schemas.microsoft.com/office/drawing/2014/main" id="{83DFC8A3-CA43-47DE-88A0-18EE8FB2D2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38CC4C2-DBD2-41A0-8542-0ED48583DA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C5D697-CC64-4CAF-A466-D1105DD36B62}" type="slidenum">
              <a:rPr lang="en-US" smtClean="0"/>
              <a:t>‹#›</a:t>
            </a:fld>
            <a:endParaRPr lang="en-US"/>
          </a:p>
        </p:txBody>
      </p:sp>
    </p:spTree>
    <p:extLst>
      <p:ext uri="{BB962C8B-B14F-4D97-AF65-F5344CB8AC3E}">
        <p14:creationId xmlns:p14="http://schemas.microsoft.com/office/powerpoint/2010/main" val="4962812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Phage13/ANA-500_Aug-25"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FD3DB-B193-4E72-861B-FE835A2E1FAD}"/>
              </a:ext>
            </a:extLst>
          </p:cNvPr>
          <p:cNvSpPr>
            <a:spLocks noGrp="1"/>
          </p:cNvSpPr>
          <p:nvPr>
            <p:ph type="ctrTitle"/>
          </p:nvPr>
        </p:nvSpPr>
        <p:spPr/>
        <p:txBody>
          <a:bodyPr>
            <a:normAutofit fontScale="90000"/>
          </a:bodyPr>
          <a:lstStyle/>
          <a:p>
            <a:r>
              <a:rPr lang="en-US" sz="5300" dirty="0"/>
              <a:t>Investigation of Cholesterol and Heart Disease</a:t>
            </a:r>
            <a:br>
              <a:rPr lang="en-US" dirty="0"/>
            </a:br>
            <a:r>
              <a:rPr lang="en-US" sz="4800" dirty="0"/>
              <a:t>Class Project</a:t>
            </a:r>
            <a:br>
              <a:rPr lang="en-US" sz="4800" dirty="0"/>
            </a:br>
            <a:r>
              <a:rPr lang="en-US" sz="2000" dirty="0">
                <a:hlinkClick r:id="rId2"/>
              </a:rPr>
              <a:t>GitHub Repository</a:t>
            </a:r>
            <a:endParaRPr lang="en-US" dirty="0"/>
          </a:p>
        </p:txBody>
      </p:sp>
      <p:sp>
        <p:nvSpPr>
          <p:cNvPr id="3" name="Subtitle 2">
            <a:extLst>
              <a:ext uri="{FF2B5EF4-FFF2-40B4-BE49-F238E27FC236}">
                <a16:creationId xmlns:a16="http://schemas.microsoft.com/office/drawing/2014/main" id="{76B5E315-C208-479B-A6B8-0DCBEF2B5FB3}"/>
              </a:ext>
            </a:extLst>
          </p:cNvPr>
          <p:cNvSpPr>
            <a:spLocks noGrp="1"/>
          </p:cNvSpPr>
          <p:nvPr>
            <p:ph type="subTitle" idx="1"/>
          </p:nvPr>
        </p:nvSpPr>
        <p:spPr/>
        <p:txBody>
          <a:bodyPr/>
          <a:lstStyle/>
          <a:p>
            <a:r>
              <a:rPr lang="en-US" sz="1800" dirty="0"/>
              <a:t>Ryan Neighbor</a:t>
            </a:r>
          </a:p>
          <a:p>
            <a:r>
              <a:rPr lang="en-US" sz="1800" dirty="0"/>
              <a:t>20Aug2025</a:t>
            </a:r>
          </a:p>
          <a:p>
            <a:endParaRPr lang="en-US" dirty="0"/>
          </a:p>
        </p:txBody>
      </p:sp>
    </p:spTree>
    <p:extLst>
      <p:ext uri="{BB962C8B-B14F-4D97-AF65-F5344CB8AC3E}">
        <p14:creationId xmlns:p14="http://schemas.microsoft.com/office/powerpoint/2010/main" val="36512514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302AB-CEDA-4E89-A1DC-6BABC9C3F7D4}"/>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05AD07EA-4B74-4BFA-A23D-5147B6A28FC4}"/>
              </a:ext>
            </a:extLst>
          </p:cNvPr>
          <p:cNvSpPr>
            <a:spLocks noGrp="1"/>
          </p:cNvSpPr>
          <p:nvPr>
            <p:ph idx="1"/>
          </p:nvPr>
        </p:nvSpPr>
        <p:spPr/>
        <p:txBody>
          <a:bodyPr/>
          <a:lstStyle/>
          <a:p>
            <a:r>
              <a:rPr lang="en-US" sz="1800" dirty="0">
                <a:solidFill>
                  <a:srgbClr val="000000"/>
                </a:solidFill>
                <a:latin typeface="Times New Roman" panose="02020603050405020304" pitchFamily="18" charset="0"/>
              </a:rPr>
              <a:t>Despite cholesterol being widely regarded as a key indicator of cardiovascular health in the United States, international standards such as those in Europe define higher thresholds for what is considered cholesterol where medicinal intervention is needed (e.g., &gt;230 mg/dL vs. &gt;200 mg/dL). This discrepancy raises questions about the true predictive value of total serum cholesterol in assessing heart disease risk. The goal of this study is to evaluate whether total cholesterol is a reliable predictor of heart disease when controlling for other biometric indicators, and to compare its predictive strength against other variables such as age, fasting blood sugar (FastingBS), maximum heart rate achieved (MaxHR), and ST-segment depression (Oldpeak).</a:t>
            </a:r>
            <a:endParaRPr lang="en-US" dirty="0"/>
          </a:p>
        </p:txBody>
      </p:sp>
    </p:spTree>
    <p:extLst>
      <p:ext uri="{BB962C8B-B14F-4D97-AF65-F5344CB8AC3E}">
        <p14:creationId xmlns:p14="http://schemas.microsoft.com/office/powerpoint/2010/main" val="18806784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9C91F-7913-4D5C-A911-ADD4837DAA00}"/>
              </a:ext>
            </a:extLst>
          </p:cNvPr>
          <p:cNvSpPr>
            <a:spLocks noGrp="1"/>
          </p:cNvSpPr>
          <p:nvPr>
            <p:ph type="title"/>
          </p:nvPr>
        </p:nvSpPr>
        <p:spPr/>
        <p:txBody>
          <a:bodyPr/>
          <a:lstStyle/>
          <a:p>
            <a:r>
              <a:rPr lang="en-US" dirty="0"/>
              <a:t>Hypothesis Formulation</a:t>
            </a:r>
          </a:p>
        </p:txBody>
      </p:sp>
      <p:sp>
        <p:nvSpPr>
          <p:cNvPr id="3" name="Content Placeholder 2">
            <a:extLst>
              <a:ext uri="{FF2B5EF4-FFF2-40B4-BE49-F238E27FC236}">
                <a16:creationId xmlns:a16="http://schemas.microsoft.com/office/drawing/2014/main" id="{905A42CE-FCD3-41B9-A629-5F3C6031F3C0}"/>
              </a:ext>
            </a:extLst>
          </p:cNvPr>
          <p:cNvSpPr>
            <a:spLocks noGrp="1"/>
          </p:cNvSpPr>
          <p:nvPr>
            <p:ph idx="1"/>
          </p:nvPr>
        </p:nvSpPr>
        <p:spPr/>
        <p:txBody>
          <a:bodyPr>
            <a:normAutofit/>
          </a:bodyPr>
          <a:lstStyle/>
          <a:p>
            <a:pPr marL="0" indent="0">
              <a:buNone/>
            </a:pPr>
            <a:r>
              <a:rPr lang="en-US" sz="1800" dirty="0">
                <a:solidFill>
                  <a:srgbClr val="000000"/>
                </a:solidFill>
                <a:ea typeface="Times New Roman" panose="02020603050405020304" pitchFamily="18" charset="0"/>
              </a:rPr>
              <a:t>H₁:</a:t>
            </a:r>
          </a:p>
          <a:p>
            <a:pPr marL="0" indent="0">
              <a:buNone/>
            </a:pPr>
            <a:r>
              <a:rPr lang="en-US" sz="1800" dirty="0">
                <a:solidFill>
                  <a:srgbClr val="000000"/>
                </a:solidFill>
                <a:ea typeface="Times New Roman" panose="02020603050405020304" pitchFamily="18" charset="0"/>
              </a:rPr>
              <a:t>Biometric measures - specifically age, fasting blood sugar (FastingBS), maximum heart rate achieved (MaxHR), and ST-segment depression (Oldpeak) — provide stronger and more reliable predictions of future heart disease risk than serum cholesterol levels alone, when controlling for other relevant health indicators.</a:t>
            </a:r>
          </a:p>
          <a:p>
            <a:pPr marL="0" indent="0">
              <a:buNone/>
            </a:pPr>
            <a:endParaRPr lang="en-US" sz="1800" dirty="0">
              <a:solidFill>
                <a:srgbClr val="000000"/>
              </a:solidFill>
            </a:endParaRPr>
          </a:p>
          <a:p>
            <a:pPr marL="0" indent="0">
              <a:buNone/>
            </a:pPr>
            <a:r>
              <a:rPr lang="en-US" sz="1800" dirty="0"/>
              <a:t>H₀:</a:t>
            </a:r>
          </a:p>
          <a:p>
            <a:pPr marL="0" indent="0">
              <a:buNone/>
            </a:pPr>
            <a:r>
              <a:rPr lang="en-US" sz="1800" dirty="0"/>
              <a:t>Serum cholesterol levels are equally or more predictive of future heart disease risk compared to biometric measures such as age, FastingBS, MaxHR, and Oldpeak, when controlling for other relevant health indicators.</a:t>
            </a:r>
          </a:p>
        </p:txBody>
      </p:sp>
    </p:spTree>
    <p:extLst>
      <p:ext uri="{BB962C8B-B14F-4D97-AF65-F5344CB8AC3E}">
        <p14:creationId xmlns:p14="http://schemas.microsoft.com/office/powerpoint/2010/main" val="3306958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A7252-6823-44F9-B464-D7A15D12BB65}"/>
              </a:ext>
            </a:extLst>
          </p:cNvPr>
          <p:cNvSpPr>
            <a:spLocks noGrp="1"/>
          </p:cNvSpPr>
          <p:nvPr>
            <p:ph type="title"/>
          </p:nvPr>
        </p:nvSpPr>
        <p:spPr/>
        <p:txBody>
          <a:bodyPr/>
          <a:lstStyle/>
          <a:p>
            <a:r>
              <a:rPr lang="en-US" dirty="0"/>
              <a:t>Acquire</a:t>
            </a:r>
          </a:p>
        </p:txBody>
      </p:sp>
      <p:sp>
        <p:nvSpPr>
          <p:cNvPr id="3" name="Content Placeholder 2">
            <a:extLst>
              <a:ext uri="{FF2B5EF4-FFF2-40B4-BE49-F238E27FC236}">
                <a16:creationId xmlns:a16="http://schemas.microsoft.com/office/drawing/2014/main" id="{7FEAE391-6366-4E20-A14E-0ECFAEA8029A}"/>
              </a:ext>
            </a:extLst>
          </p:cNvPr>
          <p:cNvSpPr>
            <a:spLocks noGrp="1"/>
          </p:cNvSpPr>
          <p:nvPr>
            <p:ph idx="1"/>
          </p:nvPr>
        </p:nvSpPr>
        <p:spPr/>
        <p:txBody>
          <a:bodyPr/>
          <a:lstStyle/>
          <a:p>
            <a:r>
              <a:rPr lang="en-US" sz="2000" dirty="0">
                <a:solidFill>
                  <a:srgbClr val="000000"/>
                </a:solidFill>
                <a:ea typeface="Times New Roman" panose="02020603050405020304" pitchFamily="18" charset="0"/>
              </a:rPr>
              <a:t>The data set used was a heart disease csv table acquired and transferred into .xlsx</a:t>
            </a:r>
          </a:p>
          <a:p>
            <a:r>
              <a:rPr lang="en-US" sz="2000" dirty="0">
                <a:solidFill>
                  <a:srgbClr val="000000"/>
                </a:solidFill>
                <a:effectLst/>
                <a:ea typeface="Times New Roman" panose="02020603050405020304" pitchFamily="18" charset="0"/>
              </a:rPr>
              <a:t>Variables in the data included: </a:t>
            </a:r>
            <a:r>
              <a:rPr lang="en-US" altLang="en-US" sz="2000" dirty="0"/>
              <a:t>Age, Sex, ChestPainType, RestingBP, Cholesterol, FastingBS, RestingECG, MaxHR, ExerciseAngina, Oldpeak, ST_Slope, HeartDisease</a:t>
            </a:r>
          </a:p>
          <a:p>
            <a:r>
              <a:rPr lang="en-US" altLang="en-US" sz="2000" dirty="0"/>
              <a:t>Data included Categorical and Numerical values</a:t>
            </a:r>
          </a:p>
          <a:p>
            <a:r>
              <a:rPr lang="en-US" altLang="en-US" sz="2000" dirty="0"/>
              <a:t>All Variables exhibited N=918</a:t>
            </a:r>
          </a:p>
          <a:p>
            <a:r>
              <a:rPr lang="en-US" altLang="en-US" sz="2000" dirty="0"/>
              <a:t>Categorical Values included Sex, Chest Pain Type, RestingECG, ExerciseAngina, ST_Slope</a:t>
            </a:r>
          </a:p>
          <a:p>
            <a:r>
              <a:rPr lang="en-US" altLang="en-US" sz="2000" dirty="0"/>
              <a:t>Numerical Data Included Age, Cholesterol, MaxHR, FastingBS, and Oldpeak</a:t>
            </a:r>
          </a:p>
          <a:p>
            <a:r>
              <a:rPr lang="en-US" altLang="en-US" sz="2000" dirty="0"/>
              <a:t>Summary Statistics were found for Numerical Data </a:t>
            </a:r>
          </a:p>
          <a:p>
            <a:endParaRPr lang="en-US" altLang="en-US" sz="1400" dirty="0">
              <a:latin typeface="Arial" panose="020B0604020202020204" pitchFamily="34" charset="0"/>
            </a:endParaRPr>
          </a:p>
          <a:p>
            <a:endParaRPr lang="en-US" sz="1800" dirty="0">
              <a:solidFill>
                <a:srgbClr val="000000"/>
              </a:solidFill>
              <a:effectLst/>
              <a:latin typeface="Times New Roman" panose="02020603050405020304" pitchFamily="18" charset="0"/>
              <a:ea typeface="Times New Roman" panose="02020603050405020304" pitchFamily="18" charset="0"/>
            </a:endParaRPr>
          </a:p>
          <a:p>
            <a:endParaRPr lang="en-US" dirty="0"/>
          </a:p>
        </p:txBody>
      </p:sp>
      <p:sp>
        <p:nvSpPr>
          <p:cNvPr id="4" name="Rectangle 1">
            <a:extLst>
              <a:ext uri="{FF2B5EF4-FFF2-40B4-BE49-F238E27FC236}">
                <a16:creationId xmlns:a16="http://schemas.microsoft.com/office/drawing/2014/main" id="{C2791EEC-E068-72E3-886C-4CBF56B73A25}"/>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70231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CCBA4-2201-4C42-30DF-9229573D4A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9E052F-D035-FDFB-1456-698B96227C77}"/>
              </a:ext>
            </a:extLst>
          </p:cNvPr>
          <p:cNvSpPr>
            <a:spLocks noGrp="1"/>
          </p:cNvSpPr>
          <p:nvPr>
            <p:ph type="title"/>
          </p:nvPr>
        </p:nvSpPr>
        <p:spPr/>
        <p:txBody>
          <a:bodyPr/>
          <a:lstStyle/>
          <a:p>
            <a:r>
              <a:rPr lang="en-US" dirty="0"/>
              <a:t>Acquire (Interpretation)</a:t>
            </a:r>
          </a:p>
        </p:txBody>
      </p:sp>
      <p:sp>
        <p:nvSpPr>
          <p:cNvPr id="3" name="Content Placeholder 2">
            <a:extLst>
              <a:ext uri="{FF2B5EF4-FFF2-40B4-BE49-F238E27FC236}">
                <a16:creationId xmlns:a16="http://schemas.microsoft.com/office/drawing/2014/main" id="{C376A21C-2E2C-A306-A73C-7BF6D4D52351}"/>
              </a:ext>
            </a:extLst>
          </p:cNvPr>
          <p:cNvSpPr>
            <a:spLocks noGrp="1"/>
          </p:cNvSpPr>
          <p:nvPr>
            <p:ph idx="1"/>
          </p:nvPr>
        </p:nvSpPr>
        <p:spPr>
          <a:xfrm>
            <a:off x="838200" y="1379621"/>
            <a:ext cx="10515600" cy="4797342"/>
          </a:xfrm>
        </p:spPr>
        <p:txBody>
          <a:bodyPr>
            <a:normAutofit fontScale="92500" lnSpcReduction="10000"/>
          </a:bodyPr>
          <a:lstStyle/>
          <a:p>
            <a:pPr marL="0" indent="0">
              <a:buNone/>
            </a:pPr>
            <a:r>
              <a:rPr lang="en-US" sz="2000" b="1" dirty="0">
                <a:solidFill>
                  <a:srgbClr val="000000"/>
                </a:solidFill>
                <a:ea typeface="Times New Roman" panose="02020603050405020304" pitchFamily="18" charset="0"/>
              </a:rPr>
              <a:t>AGE</a:t>
            </a:r>
          </a:p>
          <a:p>
            <a:pPr marL="0" indent="0">
              <a:buNone/>
            </a:pPr>
            <a:r>
              <a:rPr lang="en-US" sz="2000" dirty="0">
                <a:solidFill>
                  <a:srgbClr val="000000"/>
                </a:solidFill>
                <a:ea typeface="Times New Roman" panose="02020603050405020304" pitchFamily="18" charset="0"/>
              </a:rPr>
              <a:t>Mean age is approximately 53.5 years, with a range from 28 to 77.</a:t>
            </a:r>
          </a:p>
          <a:p>
            <a:pPr marL="0" indent="0">
              <a:buNone/>
            </a:pPr>
            <a:r>
              <a:rPr lang="en-US" sz="2000" dirty="0">
                <a:solidFill>
                  <a:srgbClr val="000000"/>
                </a:solidFill>
                <a:ea typeface="Times New Roman" panose="02020603050405020304" pitchFamily="18" charset="0"/>
              </a:rPr>
              <a:t>The standard deviation of 9.43 suggests moderate variability, and the age distribution appears slightly skewed toward middle-aged and older adults which is consistent with other studies. </a:t>
            </a:r>
          </a:p>
          <a:p>
            <a:pPr marL="0" indent="0">
              <a:buNone/>
            </a:pPr>
            <a:r>
              <a:rPr lang="en-US" sz="2000" b="1" dirty="0">
                <a:solidFill>
                  <a:srgbClr val="000000"/>
                </a:solidFill>
                <a:ea typeface="Times New Roman" panose="02020603050405020304" pitchFamily="18" charset="0"/>
              </a:rPr>
              <a:t>CHOLESTEROL</a:t>
            </a:r>
          </a:p>
          <a:p>
            <a:pPr marL="0" indent="0">
              <a:buNone/>
            </a:pPr>
            <a:r>
              <a:rPr lang="en-US" sz="2000" dirty="0">
                <a:solidFill>
                  <a:srgbClr val="000000"/>
                </a:solidFill>
                <a:ea typeface="Times New Roman" panose="02020603050405020304" pitchFamily="18" charset="0"/>
              </a:rPr>
              <a:t>Mean cholesterol level is 198.8 mg/dL, only slightly below the U.S. threshold of 200 mg/dL for "high" cholesterol. Standard deviation on the other hand is large (109.38), and values range from 0 to 603 mg/dL, indicating potential outliers or data entry issues (e.g., 0 cholesterol is physiologically implausible).</a:t>
            </a:r>
          </a:p>
          <a:p>
            <a:pPr marL="0" indent="0">
              <a:buNone/>
            </a:pPr>
            <a:r>
              <a:rPr lang="en-US" sz="2000" dirty="0">
                <a:solidFill>
                  <a:srgbClr val="000000"/>
                </a:solidFill>
                <a:ea typeface="Times New Roman" panose="02020603050405020304" pitchFamily="18" charset="0"/>
              </a:rPr>
              <a:t>Median cholesterol is 223 mg/dL, which exceeds the U.S. threshold and aligns more closely with European standards this suggests that many individuals in this sample would be classified as high-risk in the U.S.</a:t>
            </a:r>
          </a:p>
          <a:p>
            <a:pPr marL="0" indent="0">
              <a:buNone/>
            </a:pPr>
            <a:r>
              <a:rPr lang="en-US" sz="2000" b="1" dirty="0">
                <a:solidFill>
                  <a:srgbClr val="000000"/>
                </a:solidFill>
                <a:ea typeface="Times New Roman" panose="02020603050405020304" pitchFamily="18" charset="0"/>
              </a:rPr>
              <a:t>MaxHR (Maximum Heart Rate Achieved)</a:t>
            </a:r>
          </a:p>
          <a:p>
            <a:pPr marL="0" indent="0">
              <a:buNone/>
            </a:pPr>
            <a:r>
              <a:rPr lang="en-US" sz="2000" dirty="0">
                <a:solidFill>
                  <a:srgbClr val="000000"/>
                </a:solidFill>
                <a:ea typeface="Times New Roman" panose="02020603050405020304" pitchFamily="18" charset="0"/>
              </a:rPr>
              <a:t>Mean MaxHR is 136.8 bpm, with a range from 60 to 202 bpm. The distribution is somewhat wide (std = 25.46), reflecting diverse cardiovascular fitness levels. This variable is especially relevant for stress testing and may correlate strongly with heart disease outcomes.</a:t>
            </a:r>
          </a:p>
          <a:p>
            <a:endParaRPr lang="en-US" dirty="0"/>
          </a:p>
        </p:txBody>
      </p:sp>
      <p:sp>
        <p:nvSpPr>
          <p:cNvPr id="4" name="Rectangle 1">
            <a:extLst>
              <a:ext uri="{FF2B5EF4-FFF2-40B4-BE49-F238E27FC236}">
                <a16:creationId xmlns:a16="http://schemas.microsoft.com/office/drawing/2014/main" id="{034F3919-2436-5471-F5EF-8CD0C74514A4}"/>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77824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B62A4-52F5-2688-65A3-E7141BABC9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9D5A07-0135-CFA8-6F12-66BA699B1303}"/>
              </a:ext>
            </a:extLst>
          </p:cNvPr>
          <p:cNvSpPr>
            <a:spLocks noGrp="1"/>
          </p:cNvSpPr>
          <p:nvPr>
            <p:ph type="title"/>
          </p:nvPr>
        </p:nvSpPr>
        <p:spPr/>
        <p:txBody>
          <a:bodyPr/>
          <a:lstStyle/>
          <a:p>
            <a:r>
              <a:rPr lang="en-US" dirty="0"/>
              <a:t>Acquire (Interpretation)</a:t>
            </a:r>
          </a:p>
        </p:txBody>
      </p:sp>
      <p:sp>
        <p:nvSpPr>
          <p:cNvPr id="3" name="Content Placeholder 2">
            <a:extLst>
              <a:ext uri="{FF2B5EF4-FFF2-40B4-BE49-F238E27FC236}">
                <a16:creationId xmlns:a16="http://schemas.microsoft.com/office/drawing/2014/main" id="{DC00AC73-3296-59A5-164D-042735C728AA}"/>
              </a:ext>
            </a:extLst>
          </p:cNvPr>
          <p:cNvSpPr>
            <a:spLocks noGrp="1"/>
          </p:cNvSpPr>
          <p:nvPr>
            <p:ph idx="1"/>
          </p:nvPr>
        </p:nvSpPr>
        <p:spPr>
          <a:xfrm>
            <a:off x="838200" y="1379621"/>
            <a:ext cx="10515600" cy="4797342"/>
          </a:xfrm>
        </p:spPr>
        <p:txBody>
          <a:bodyPr>
            <a:normAutofit/>
          </a:bodyPr>
          <a:lstStyle/>
          <a:p>
            <a:pPr marL="0" indent="0">
              <a:buNone/>
            </a:pPr>
            <a:r>
              <a:rPr lang="en-US" sz="2000" b="1" dirty="0">
                <a:solidFill>
                  <a:srgbClr val="000000"/>
                </a:solidFill>
                <a:ea typeface="Times New Roman" panose="02020603050405020304" pitchFamily="18" charset="0"/>
              </a:rPr>
              <a:t>FastingBS (Fasting Blood Sugar)</a:t>
            </a:r>
          </a:p>
          <a:p>
            <a:pPr marL="0" indent="0">
              <a:buNone/>
            </a:pPr>
            <a:r>
              <a:rPr lang="en-US" sz="2000" dirty="0">
                <a:solidFill>
                  <a:srgbClr val="000000"/>
                </a:solidFill>
                <a:ea typeface="Times New Roman" panose="02020603050405020304" pitchFamily="18" charset="0"/>
              </a:rPr>
              <a:t>This is a binary variable (0 or 1), with a mean of 0.233, indicating that roughly 23.3% of patients had elevated fasting blood sugar (&gt;120 mg/dL). As there are known linkages between diabetes and cardiovascular risk, this variable could be an important control variable. </a:t>
            </a:r>
          </a:p>
          <a:p>
            <a:pPr marL="0" indent="0">
              <a:buNone/>
            </a:pPr>
            <a:endParaRPr lang="en-US" sz="2000" dirty="0">
              <a:solidFill>
                <a:srgbClr val="000000"/>
              </a:solidFill>
              <a:ea typeface="Times New Roman" panose="02020603050405020304" pitchFamily="18" charset="0"/>
            </a:endParaRPr>
          </a:p>
          <a:p>
            <a:pPr marL="0" indent="0">
              <a:buNone/>
            </a:pPr>
            <a:r>
              <a:rPr lang="en-US" sz="2000" b="1" dirty="0">
                <a:solidFill>
                  <a:srgbClr val="000000"/>
                </a:solidFill>
                <a:ea typeface="Times New Roman" panose="02020603050405020304" pitchFamily="18" charset="0"/>
              </a:rPr>
              <a:t>Oldpeak (ST-Segment Depression)</a:t>
            </a:r>
          </a:p>
          <a:p>
            <a:pPr marL="0" indent="0">
              <a:buNone/>
            </a:pPr>
            <a:r>
              <a:rPr lang="en-US" sz="2000" dirty="0">
                <a:solidFill>
                  <a:srgbClr val="000000"/>
                </a:solidFill>
                <a:ea typeface="Times New Roman" panose="02020603050405020304" pitchFamily="18" charset="0"/>
              </a:rPr>
              <a:t>Mean Oldpeak is 0.89, with a range from -2.6 to 6.2.</a:t>
            </a:r>
          </a:p>
          <a:p>
            <a:pPr marL="0" indent="0">
              <a:buNone/>
            </a:pPr>
            <a:r>
              <a:rPr lang="en-US" sz="2000" dirty="0">
                <a:solidFill>
                  <a:srgbClr val="000000"/>
                </a:solidFill>
                <a:ea typeface="Times New Roman" panose="02020603050405020304" pitchFamily="18" charset="0"/>
              </a:rPr>
              <a:t>Negative values may reflect measurement artifacts or atypical ECG readings.</a:t>
            </a:r>
          </a:p>
          <a:p>
            <a:pPr marL="0" indent="0">
              <a:buNone/>
            </a:pPr>
            <a:r>
              <a:rPr lang="en-US" sz="2000" dirty="0">
                <a:solidFill>
                  <a:srgbClr val="000000"/>
                </a:solidFill>
                <a:ea typeface="Times New Roman" panose="02020603050405020304" pitchFamily="18" charset="0"/>
              </a:rPr>
              <a:t>The standard deviation of 1.07 and a median of 0.6 suggest a right-skewed distribution, with some patients showing significant ST depression — a known marker of ischemia.</a:t>
            </a:r>
            <a:endParaRPr lang="en-US" altLang="en-US" sz="1400" dirty="0">
              <a:latin typeface="Arial" panose="020B0604020202020204" pitchFamily="34" charset="0"/>
            </a:endParaRPr>
          </a:p>
          <a:p>
            <a:endParaRPr lang="en-US" sz="1800" dirty="0">
              <a:solidFill>
                <a:srgbClr val="000000"/>
              </a:solidFill>
              <a:latin typeface="Times New Roman" panose="02020603050405020304" pitchFamily="18" charset="0"/>
              <a:ea typeface="Times New Roman" panose="02020603050405020304" pitchFamily="18" charset="0"/>
            </a:endParaRPr>
          </a:p>
          <a:p>
            <a:endParaRPr lang="en-US" dirty="0"/>
          </a:p>
        </p:txBody>
      </p:sp>
      <p:sp>
        <p:nvSpPr>
          <p:cNvPr id="4" name="Rectangle 1">
            <a:extLst>
              <a:ext uri="{FF2B5EF4-FFF2-40B4-BE49-F238E27FC236}">
                <a16:creationId xmlns:a16="http://schemas.microsoft.com/office/drawing/2014/main" id="{3CBB0182-9EE1-0D9F-CD87-275B6E67715B}"/>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02397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A7252-6823-44F9-B464-D7A15D12BB65}"/>
              </a:ext>
            </a:extLst>
          </p:cNvPr>
          <p:cNvSpPr>
            <a:spLocks noGrp="1"/>
          </p:cNvSpPr>
          <p:nvPr>
            <p:ph type="title"/>
          </p:nvPr>
        </p:nvSpPr>
        <p:spPr/>
        <p:txBody>
          <a:bodyPr/>
          <a:lstStyle/>
          <a:p>
            <a:r>
              <a:rPr lang="en-US" dirty="0"/>
              <a:t>Prepare</a:t>
            </a:r>
          </a:p>
        </p:txBody>
      </p:sp>
      <p:sp>
        <p:nvSpPr>
          <p:cNvPr id="3" name="Content Placeholder 2">
            <a:extLst>
              <a:ext uri="{FF2B5EF4-FFF2-40B4-BE49-F238E27FC236}">
                <a16:creationId xmlns:a16="http://schemas.microsoft.com/office/drawing/2014/main" id="{7FEAE391-6366-4E20-A14E-0ECFAEA8029A}"/>
              </a:ext>
            </a:extLst>
          </p:cNvPr>
          <p:cNvSpPr>
            <a:spLocks noGrp="1"/>
          </p:cNvSpPr>
          <p:nvPr>
            <p:ph idx="1"/>
          </p:nvPr>
        </p:nvSpPr>
        <p:spPr/>
        <p:txBody>
          <a:bodyPr>
            <a:normAutofit lnSpcReduction="10000"/>
          </a:bodyPr>
          <a:lstStyle/>
          <a:p>
            <a:r>
              <a:rPr lang="en-US" dirty="0"/>
              <a:t>Summary Statistics for Numerical Data</a:t>
            </a:r>
          </a:p>
          <a:p>
            <a:r>
              <a:rPr lang="en-US" dirty="0"/>
              <a:t>Value Names and group counts for Categorical Data</a:t>
            </a:r>
          </a:p>
          <a:p>
            <a:r>
              <a:rPr lang="en-US" dirty="0"/>
              <a:t>Initial correlation heatmap procured</a:t>
            </a:r>
          </a:p>
          <a:p>
            <a:r>
              <a:rPr lang="en-US" dirty="0"/>
              <a:t>Created Normalized Values &amp; added to data frame</a:t>
            </a:r>
          </a:p>
          <a:p>
            <a:r>
              <a:rPr lang="en-US" dirty="0"/>
              <a:t>New correlation heatmap was observed </a:t>
            </a:r>
          </a:p>
          <a:p>
            <a:r>
              <a:rPr lang="en-US" dirty="0"/>
              <a:t>Values above 0.2 or below -0.2 were considered promising when comparing to heart disease (1 or -1 is perfect correlation)</a:t>
            </a:r>
          </a:p>
          <a:p>
            <a:r>
              <a:rPr lang="en-US" dirty="0"/>
              <a:t>Age Groups were binned into 4 equal groups from 0-100, and compared Cholesterol for mean, max, min, and n within respective groups. </a:t>
            </a:r>
          </a:p>
          <a:p>
            <a:endParaRPr lang="en-US" dirty="0"/>
          </a:p>
        </p:txBody>
      </p:sp>
    </p:spTree>
    <p:extLst>
      <p:ext uri="{BB962C8B-B14F-4D97-AF65-F5344CB8AC3E}">
        <p14:creationId xmlns:p14="http://schemas.microsoft.com/office/powerpoint/2010/main" val="2788217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53F95-D960-E17D-6D7E-1CFB7AF5F6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BD3E01-2290-EC57-2047-CF724EA6DEA8}"/>
              </a:ext>
            </a:extLst>
          </p:cNvPr>
          <p:cNvSpPr>
            <a:spLocks noGrp="1"/>
          </p:cNvSpPr>
          <p:nvPr>
            <p:ph type="title"/>
          </p:nvPr>
        </p:nvSpPr>
        <p:spPr/>
        <p:txBody>
          <a:bodyPr/>
          <a:lstStyle/>
          <a:p>
            <a:r>
              <a:rPr lang="en-US" dirty="0"/>
              <a:t>Prepare (Interpretation)</a:t>
            </a:r>
          </a:p>
        </p:txBody>
      </p:sp>
      <p:sp>
        <p:nvSpPr>
          <p:cNvPr id="3" name="Content Placeholder 2">
            <a:extLst>
              <a:ext uri="{FF2B5EF4-FFF2-40B4-BE49-F238E27FC236}">
                <a16:creationId xmlns:a16="http://schemas.microsoft.com/office/drawing/2014/main" id="{F0F7220C-B314-691C-B8BF-3924C80F87C5}"/>
              </a:ext>
            </a:extLst>
          </p:cNvPr>
          <p:cNvSpPr>
            <a:spLocks noGrp="1"/>
          </p:cNvSpPr>
          <p:nvPr>
            <p:ph idx="1"/>
          </p:nvPr>
        </p:nvSpPr>
        <p:spPr/>
        <p:txBody>
          <a:bodyPr>
            <a:normAutofit fontScale="92500" lnSpcReduction="10000"/>
          </a:bodyPr>
          <a:lstStyle/>
          <a:p>
            <a:r>
              <a:rPr lang="en-US" b="1" dirty="0"/>
              <a:t>Cholesterol</a:t>
            </a:r>
            <a:r>
              <a:rPr lang="en-US" dirty="0"/>
              <a:t> shows high variability and potential outliers, which may weaken its predictive power unless normalized or transformed.</a:t>
            </a:r>
          </a:p>
          <a:p>
            <a:r>
              <a:rPr lang="en-US" b="1" dirty="0"/>
              <a:t>Age, MaxHR, FastingBS</a:t>
            </a:r>
            <a:r>
              <a:rPr lang="en-US" dirty="0"/>
              <a:t>, and</a:t>
            </a:r>
            <a:r>
              <a:rPr lang="en-US" b="1" dirty="0"/>
              <a:t> Oldpeak </a:t>
            </a:r>
            <a:r>
              <a:rPr lang="en-US" dirty="0"/>
              <a:t>all show meaningful variation and clinical relevance, this may yield outperform results of those variables to </a:t>
            </a:r>
            <a:r>
              <a:rPr lang="en-US" b="1" dirty="0"/>
              <a:t>Cholesterol</a:t>
            </a:r>
            <a:r>
              <a:rPr lang="en-US" dirty="0"/>
              <a:t> in predicting heart disease.</a:t>
            </a:r>
          </a:p>
          <a:p>
            <a:r>
              <a:rPr lang="en-US" dirty="0"/>
              <a:t>Due to the data sets clean data structure and complete records - logistic regression, decision trees, or ensemble models like random forests are preferable techniques to use once </a:t>
            </a:r>
            <a:r>
              <a:rPr lang="en-US" sz="3000" b="1" dirty="0"/>
              <a:t>0</a:t>
            </a:r>
            <a:r>
              <a:rPr lang="en-US" dirty="0"/>
              <a:t> </a:t>
            </a:r>
            <a:r>
              <a:rPr lang="en-US" b="1" dirty="0"/>
              <a:t>Cholesterol</a:t>
            </a:r>
            <a:r>
              <a:rPr lang="en-US" dirty="0"/>
              <a:t> variable values are removed or averaged based on all other </a:t>
            </a:r>
            <a:r>
              <a:rPr lang="en-US" b="1" dirty="0"/>
              <a:t>Cholesterol</a:t>
            </a:r>
            <a:r>
              <a:rPr lang="en-US" dirty="0"/>
              <a:t> values.</a:t>
            </a:r>
          </a:p>
          <a:p>
            <a:r>
              <a:rPr lang="en-US" dirty="0"/>
              <a:t>Notably, when binning </a:t>
            </a:r>
            <a:r>
              <a:rPr lang="en-US" b="1" dirty="0"/>
              <a:t>AGE</a:t>
            </a:r>
            <a:r>
              <a:rPr lang="en-US" dirty="0"/>
              <a:t> groups 76-100 Years of </a:t>
            </a:r>
            <a:r>
              <a:rPr lang="en-US" b="1" dirty="0"/>
              <a:t>AGE</a:t>
            </a:r>
            <a:r>
              <a:rPr lang="en-US" dirty="0"/>
              <a:t> only had 4 observations of participants. </a:t>
            </a:r>
          </a:p>
        </p:txBody>
      </p:sp>
    </p:spTree>
    <p:extLst>
      <p:ext uri="{BB962C8B-B14F-4D97-AF65-F5344CB8AC3E}">
        <p14:creationId xmlns:p14="http://schemas.microsoft.com/office/powerpoint/2010/main" val="1850563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AF0A4-CB82-C9B7-8A4E-514AF4DD27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93711D-54DC-8675-E53B-E7E67B6F71F2}"/>
              </a:ext>
            </a:extLst>
          </p:cNvPr>
          <p:cNvSpPr>
            <a:spLocks noGrp="1"/>
          </p:cNvSpPr>
          <p:nvPr>
            <p:ph type="title"/>
          </p:nvPr>
        </p:nvSpPr>
        <p:spPr/>
        <p:txBody>
          <a:bodyPr/>
          <a:lstStyle/>
          <a:p>
            <a:r>
              <a:rPr lang="en-US" dirty="0"/>
              <a:t>Prepare (Interpretation)</a:t>
            </a:r>
          </a:p>
        </p:txBody>
      </p:sp>
      <p:sp>
        <p:nvSpPr>
          <p:cNvPr id="3" name="Content Placeholder 2">
            <a:extLst>
              <a:ext uri="{FF2B5EF4-FFF2-40B4-BE49-F238E27FC236}">
                <a16:creationId xmlns:a16="http://schemas.microsoft.com/office/drawing/2014/main" id="{81B36A2B-F242-BD54-08C6-A79814709BDF}"/>
              </a:ext>
            </a:extLst>
          </p:cNvPr>
          <p:cNvSpPr>
            <a:spLocks noGrp="1"/>
          </p:cNvSpPr>
          <p:nvPr>
            <p:ph idx="1"/>
          </p:nvPr>
        </p:nvSpPr>
        <p:spPr>
          <a:xfrm>
            <a:off x="838200" y="1546225"/>
            <a:ext cx="10515600" cy="4351338"/>
          </a:xfrm>
        </p:spPr>
        <p:txBody>
          <a:bodyPr>
            <a:normAutofit fontScale="92500" lnSpcReduction="10000"/>
          </a:bodyPr>
          <a:lstStyle/>
          <a:p>
            <a:pPr marL="0" indent="0">
              <a:buNone/>
            </a:pPr>
            <a:r>
              <a:rPr lang="en-US" sz="1600" b="1" dirty="0"/>
              <a:t>After the data is cleaned (0 Cholesterol Values Removed), normalized, and correlated: </a:t>
            </a:r>
          </a:p>
          <a:p>
            <a:pPr marL="0" indent="0">
              <a:buNone/>
            </a:pPr>
            <a:endParaRPr lang="en-US" sz="1600" b="1" dirty="0"/>
          </a:p>
          <a:p>
            <a:pPr marL="0" indent="0">
              <a:buNone/>
            </a:pPr>
            <a:r>
              <a:rPr lang="en-US" sz="1600" dirty="0">
                <a:highlight>
                  <a:srgbClr val="FFFF00"/>
                </a:highlight>
              </a:rPr>
              <a:t>The correlation between </a:t>
            </a:r>
            <a:r>
              <a:rPr lang="en-US" sz="1600" b="1" dirty="0">
                <a:highlight>
                  <a:srgbClr val="FFFF00"/>
                </a:highlight>
              </a:rPr>
              <a:t>Cholestero</a:t>
            </a:r>
            <a:r>
              <a:rPr lang="en-US" sz="1600" dirty="0">
                <a:highlight>
                  <a:srgbClr val="FFFF00"/>
                </a:highlight>
              </a:rPr>
              <a:t>l and </a:t>
            </a:r>
            <a:r>
              <a:rPr lang="en-US" sz="1600" b="1" dirty="0">
                <a:highlight>
                  <a:srgbClr val="FFFF00"/>
                </a:highlight>
              </a:rPr>
              <a:t>Heart Disease </a:t>
            </a:r>
            <a:r>
              <a:rPr lang="en-US" sz="1600" dirty="0">
                <a:highlight>
                  <a:srgbClr val="FFFF00"/>
                </a:highlight>
              </a:rPr>
              <a:t>is now r = 0.10, </a:t>
            </a:r>
            <a:r>
              <a:rPr lang="en-US" sz="1600" b="1" dirty="0">
                <a:highlight>
                  <a:srgbClr val="FFFF00"/>
                </a:highlight>
              </a:rPr>
              <a:t>a very weak positive relationship </a:t>
            </a:r>
            <a:r>
              <a:rPr lang="en-US" sz="1600" dirty="0"/>
              <a:t>that suggests higher cholesterol levels are not reliably associated with increased cardiac risk in this dataset.</a:t>
            </a:r>
          </a:p>
          <a:p>
            <a:pPr marL="0" indent="0">
              <a:buNone/>
            </a:pPr>
            <a:r>
              <a:rPr lang="en-US" sz="1600" b="1" dirty="0">
                <a:highlight>
                  <a:srgbClr val="00FF00"/>
                </a:highlight>
              </a:rPr>
              <a:t>Oldpeak</a:t>
            </a:r>
            <a:r>
              <a:rPr lang="en-US" sz="1600" dirty="0">
                <a:highlight>
                  <a:srgbClr val="00FF00"/>
                </a:highlight>
              </a:rPr>
              <a:t> (measuring ST-segment depression during exercise) shows </a:t>
            </a:r>
            <a:r>
              <a:rPr lang="en-US" sz="1600" b="1" dirty="0">
                <a:highlight>
                  <a:srgbClr val="00FF00"/>
                </a:highlight>
              </a:rPr>
              <a:t>the strongest positive correlation with Heart Disease </a:t>
            </a:r>
            <a:r>
              <a:rPr lang="en-US" sz="1600" dirty="0">
                <a:highlight>
                  <a:srgbClr val="00FF00"/>
                </a:highlight>
              </a:rPr>
              <a:t>at r = 0.50</a:t>
            </a:r>
            <a:r>
              <a:rPr lang="en-US" sz="1600" dirty="0"/>
              <a:t>, indicating that exercise-induced cardiac stress is a driving predictor.</a:t>
            </a:r>
          </a:p>
          <a:p>
            <a:pPr marL="0" indent="0">
              <a:buNone/>
            </a:pPr>
            <a:r>
              <a:rPr lang="en-US" sz="1600" b="1" dirty="0">
                <a:highlight>
                  <a:srgbClr val="00FF00"/>
                </a:highlight>
              </a:rPr>
              <a:t>MaxHR</a:t>
            </a:r>
            <a:r>
              <a:rPr lang="en-US" sz="1600" dirty="0">
                <a:highlight>
                  <a:srgbClr val="00FF00"/>
                </a:highlight>
              </a:rPr>
              <a:t> (maximum heart rate achieved) has a </a:t>
            </a:r>
            <a:r>
              <a:rPr lang="en-US" sz="1600" b="1" dirty="0">
                <a:highlight>
                  <a:srgbClr val="00FF00"/>
                </a:highlight>
              </a:rPr>
              <a:t>strong negative correlation </a:t>
            </a:r>
            <a:r>
              <a:rPr lang="en-US" sz="1600" dirty="0">
                <a:highlight>
                  <a:srgbClr val="00FF00"/>
                </a:highlight>
              </a:rPr>
              <a:t>of r = -0.38</a:t>
            </a:r>
            <a:r>
              <a:rPr lang="en-US" sz="1600" dirty="0"/>
              <a:t>, reinforcing that cardiovascular performance during exertion is closely tied to </a:t>
            </a:r>
            <a:r>
              <a:rPr lang="en-US" sz="1600" b="1" dirty="0"/>
              <a:t>Heart Disease</a:t>
            </a:r>
            <a:r>
              <a:rPr lang="en-US" sz="1600" dirty="0"/>
              <a:t> presence.</a:t>
            </a:r>
          </a:p>
          <a:p>
            <a:pPr marL="0" indent="0">
              <a:buNone/>
            </a:pPr>
            <a:r>
              <a:rPr lang="en-US" sz="1600" b="1" dirty="0">
                <a:highlight>
                  <a:srgbClr val="00FF00"/>
                </a:highlight>
              </a:rPr>
              <a:t>Age</a:t>
            </a:r>
            <a:r>
              <a:rPr lang="en-US" sz="1600" dirty="0">
                <a:highlight>
                  <a:srgbClr val="00FF00"/>
                </a:highlight>
              </a:rPr>
              <a:t> correlates with </a:t>
            </a:r>
            <a:r>
              <a:rPr lang="en-US" sz="1600" b="1" dirty="0">
                <a:highlight>
                  <a:srgbClr val="00FF00"/>
                </a:highlight>
              </a:rPr>
              <a:t>Heart Disease </a:t>
            </a:r>
            <a:r>
              <a:rPr lang="en-US" sz="1600" dirty="0">
                <a:highlight>
                  <a:srgbClr val="00FF00"/>
                </a:highlight>
              </a:rPr>
              <a:t>at r = 0.30, and </a:t>
            </a:r>
            <a:r>
              <a:rPr lang="en-US" sz="1600" dirty="0">
                <a:highlight>
                  <a:srgbClr val="FFFF00"/>
                </a:highlight>
              </a:rPr>
              <a:t>Fasting Blood Sugar (</a:t>
            </a:r>
            <a:r>
              <a:rPr lang="en-US" sz="1600" b="1" dirty="0">
                <a:highlight>
                  <a:srgbClr val="FFFF00"/>
                </a:highlight>
              </a:rPr>
              <a:t>FastingBS</a:t>
            </a:r>
            <a:r>
              <a:rPr lang="en-US" sz="1600" dirty="0">
                <a:highlight>
                  <a:srgbClr val="FFFF00"/>
                </a:highlight>
              </a:rPr>
              <a:t>) at r = 0.16. </a:t>
            </a:r>
            <a:r>
              <a:rPr lang="en-US" sz="1600" dirty="0"/>
              <a:t>Age exhibits moderate positive relationships and outperforms Cholesterol while FastingBS is weaker. Both outperform Cholesterol.</a:t>
            </a:r>
          </a:p>
          <a:p>
            <a:pPr marL="0" indent="0">
              <a:buNone/>
            </a:pPr>
            <a:r>
              <a:rPr lang="en-US" sz="1600" b="1" dirty="0">
                <a:highlight>
                  <a:srgbClr val="00FF00"/>
                </a:highlight>
              </a:rPr>
              <a:t>Oldpeak</a:t>
            </a:r>
            <a:r>
              <a:rPr lang="en-US" sz="1600" dirty="0">
                <a:highlight>
                  <a:srgbClr val="00FF00"/>
                </a:highlight>
              </a:rPr>
              <a:t>’s correlation with</a:t>
            </a:r>
            <a:r>
              <a:rPr lang="en-US" sz="1600" b="1" dirty="0">
                <a:highlight>
                  <a:srgbClr val="00FF00"/>
                </a:highlight>
              </a:rPr>
              <a:t> Age </a:t>
            </a:r>
            <a:r>
              <a:rPr lang="en-US" sz="1600" dirty="0">
                <a:highlight>
                  <a:srgbClr val="00FF00"/>
                </a:highlight>
              </a:rPr>
              <a:t>(r = 0.29) and </a:t>
            </a:r>
            <a:r>
              <a:rPr lang="en-US" sz="1600" b="1" dirty="0">
                <a:highlight>
                  <a:srgbClr val="00FF00"/>
                </a:highlight>
              </a:rPr>
              <a:t>MaxHR</a:t>
            </a:r>
            <a:r>
              <a:rPr lang="en-US" sz="1600" dirty="0">
                <a:highlight>
                  <a:srgbClr val="00FF00"/>
                </a:highlight>
              </a:rPr>
              <a:t>’s correlation with </a:t>
            </a:r>
            <a:r>
              <a:rPr lang="en-US" sz="1600" b="1" dirty="0">
                <a:highlight>
                  <a:srgbClr val="00FF00"/>
                </a:highlight>
              </a:rPr>
              <a:t>Age</a:t>
            </a:r>
            <a:r>
              <a:rPr lang="en-US" sz="1600" dirty="0">
                <a:highlight>
                  <a:srgbClr val="00FF00"/>
                </a:highlight>
              </a:rPr>
              <a:t> (r = -0.38) suggest that age-related decline in cardiac function plays a significant role.</a:t>
            </a:r>
          </a:p>
          <a:p>
            <a:pPr marL="0" indent="0">
              <a:buNone/>
            </a:pPr>
            <a:r>
              <a:rPr lang="en-US" sz="1600" b="1" dirty="0">
                <a:highlight>
                  <a:srgbClr val="FFFF00"/>
                </a:highlight>
              </a:rPr>
              <a:t>RestingBP</a:t>
            </a:r>
            <a:r>
              <a:rPr lang="en-US" sz="1600" dirty="0">
                <a:highlight>
                  <a:srgbClr val="FFFF00"/>
                </a:highlight>
              </a:rPr>
              <a:t> shows only a weak correlation with </a:t>
            </a:r>
            <a:r>
              <a:rPr lang="en-US" sz="1600" b="1" dirty="0">
                <a:highlight>
                  <a:srgbClr val="FFFF00"/>
                </a:highlight>
              </a:rPr>
              <a:t>Heart Disease </a:t>
            </a:r>
            <a:r>
              <a:rPr lang="en-US" sz="1600" dirty="0"/>
              <a:t>(r = 0.17).</a:t>
            </a:r>
          </a:p>
          <a:p>
            <a:pPr marL="0" indent="0">
              <a:buNone/>
            </a:pPr>
            <a:endParaRPr lang="en-US" sz="1600" dirty="0"/>
          </a:p>
          <a:p>
            <a:pPr marL="0" indent="0">
              <a:buNone/>
            </a:pPr>
            <a:r>
              <a:rPr lang="en-US" sz="1600" dirty="0"/>
              <a:t>Findings: </a:t>
            </a:r>
            <a:r>
              <a:rPr lang="en-US" sz="1600" b="1" dirty="0"/>
              <a:t>Oldpeak</a:t>
            </a:r>
            <a:r>
              <a:rPr lang="en-US" sz="1600" dirty="0"/>
              <a:t> and </a:t>
            </a:r>
            <a:r>
              <a:rPr lang="en-US" sz="1600" b="1" dirty="0"/>
              <a:t>MaxHR</a:t>
            </a:r>
            <a:r>
              <a:rPr lang="en-US" sz="1600" dirty="0"/>
              <a:t> are more reliable indicators of </a:t>
            </a:r>
            <a:r>
              <a:rPr lang="en-US" sz="1600" b="1" dirty="0"/>
              <a:t>Heart Disease </a:t>
            </a:r>
            <a:r>
              <a:rPr lang="en-US" sz="1600" dirty="0"/>
              <a:t>than </a:t>
            </a:r>
            <a:r>
              <a:rPr lang="en-US" sz="1600" b="1" dirty="0"/>
              <a:t>Cholesterol</a:t>
            </a:r>
            <a:r>
              <a:rPr lang="en-US" sz="1600" dirty="0"/>
              <a:t> while those same driving variables seem to have correlations to</a:t>
            </a:r>
            <a:r>
              <a:rPr lang="en-US" sz="1600" b="1" dirty="0"/>
              <a:t> Age</a:t>
            </a:r>
            <a:r>
              <a:rPr lang="en-US" sz="1600" dirty="0"/>
              <a:t>. </a:t>
            </a:r>
          </a:p>
        </p:txBody>
      </p:sp>
    </p:spTree>
    <p:extLst>
      <p:ext uri="{BB962C8B-B14F-4D97-AF65-F5344CB8AC3E}">
        <p14:creationId xmlns:p14="http://schemas.microsoft.com/office/powerpoint/2010/main" val="1530084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A7252-6823-44F9-B464-D7A15D12BB65}"/>
              </a:ext>
            </a:extLst>
          </p:cNvPr>
          <p:cNvSpPr>
            <a:spLocks noGrp="1"/>
          </p:cNvSpPr>
          <p:nvPr>
            <p:ph type="title"/>
          </p:nvPr>
        </p:nvSpPr>
        <p:spPr/>
        <p:txBody>
          <a:bodyPr/>
          <a:lstStyle/>
          <a:p>
            <a:r>
              <a:rPr lang="en-US" dirty="0"/>
              <a:t>Analyze data</a:t>
            </a:r>
          </a:p>
        </p:txBody>
      </p:sp>
      <p:sp>
        <p:nvSpPr>
          <p:cNvPr id="3" name="Content Placeholder 2">
            <a:extLst>
              <a:ext uri="{FF2B5EF4-FFF2-40B4-BE49-F238E27FC236}">
                <a16:creationId xmlns:a16="http://schemas.microsoft.com/office/drawing/2014/main" id="{7FEAE391-6366-4E20-A14E-0ECFAEA8029A}"/>
              </a:ext>
            </a:extLst>
          </p:cNvPr>
          <p:cNvSpPr>
            <a:spLocks noGrp="1"/>
          </p:cNvSpPr>
          <p:nvPr>
            <p:ph idx="1"/>
          </p:nvPr>
        </p:nvSpPr>
        <p:spPr/>
        <p:txBody>
          <a:bodyPr/>
          <a:lstStyle/>
          <a:p>
            <a:r>
              <a:rPr lang="en-US" sz="2400" dirty="0">
                <a:solidFill>
                  <a:srgbClr val="000000"/>
                </a:solidFill>
                <a:latin typeface="Times New Roman" panose="02020603050405020304" pitchFamily="18" charset="0"/>
                <a:ea typeface="Times New Roman" panose="02020603050405020304" pitchFamily="18" charset="0"/>
              </a:rPr>
              <a:t>Histograms</a:t>
            </a:r>
          </a:p>
          <a:p>
            <a:r>
              <a:rPr lang="en-US" sz="2400" dirty="0">
                <a:solidFill>
                  <a:srgbClr val="000000"/>
                </a:solidFill>
                <a:latin typeface="Times New Roman" panose="02020603050405020304" pitchFamily="18" charset="0"/>
                <a:ea typeface="Times New Roman" panose="02020603050405020304" pitchFamily="18" charset="0"/>
              </a:rPr>
              <a:t>Box Plots</a:t>
            </a:r>
          </a:p>
          <a:p>
            <a:r>
              <a:rPr lang="en-US" sz="2400" dirty="0">
                <a:solidFill>
                  <a:srgbClr val="000000"/>
                </a:solidFill>
                <a:latin typeface="Times New Roman" panose="02020603050405020304" pitchFamily="18" charset="0"/>
                <a:ea typeface="Times New Roman" panose="02020603050405020304" pitchFamily="18" charset="0"/>
              </a:rPr>
              <a:t>Scatterplot w/ trendlines</a:t>
            </a:r>
          </a:p>
          <a:p>
            <a:r>
              <a:rPr lang="en-US" sz="2400" dirty="0">
                <a:solidFill>
                  <a:srgbClr val="000000"/>
                </a:solidFill>
                <a:latin typeface="Times New Roman" panose="02020603050405020304" pitchFamily="18" charset="0"/>
                <a:ea typeface="Times New Roman" panose="02020603050405020304" pitchFamily="18" charset="0"/>
              </a:rPr>
              <a:t>Bubble Plot w/ HeartDisease Color Coding</a:t>
            </a:r>
          </a:p>
          <a:p>
            <a:r>
              <a:rPr lang="en-US" sz="2400" dirty="0">
                <a:solidFill>
                  <a:srgbClr val="000000"/>
                </a:solidFill>
                <a:latin typeface="Times New Roman" panose="02020603050405020304" pitchFamily="18" charset="0"/>
                <a:ea typeface="Times New Roman" panose="02020603050405020304" pitchFamily="18" charset="0"/>
              </a:rPr>
              <a:t>Normalized Scatterplot</a:t>
            </a:r>
          </a:p>
          <a:p>
            <a:endParaRPr lang="en-US" sz="1800" dirty="0">
              <a:solidFill>
                <a:srgbClr val="000000"/>
              </a:solidFill>
              <a:effectLst/>
              <a:latin typeface="Times New Roman" panose="02020603050405020304" pitchFamily="18" charset="0"/>
              <a:ea typeface="Times New Roman" panose="02020603050405020304" pitchFamily="18" charset="0"/>
            </a:endParaRPr>
          </a:p>
          <a:p>
            <a:endParaRPr lang="en-US" dirty="0"/>
          </a:p>
        </p:txBody>
      </p:sp>
    </p:spTree>
    <p:extLst>
      <p:ext uri="{BB962C8B-B14F-4D97-AF65-F5344CB8AC3E}">
        <p14:creationId xmlns:p14="http://schemas.microsoft.com/office/powerpoint/2010/main" val="69798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DDFD3-9C43-71E7-9227-B18AFF140247}"/>
              </a:ext>
            </a:extLst>
          </p:cNvPr>
          <p:cNvSpPr>
            <a:spLocks noGrp="1"/>
          </p:cNvSpPr>
          <p:nvPr>
            <p:ph type="title"/>
          </p:nvPr>
        </p:nvSpPr>
        <p:spPr/>
        <p:txBody>
          <a:bodyPr/>
          <a:lstStyle/>
          <a:p>
            <a:r>
              <a:rPr lang="en-US" dirty="0"/>
              <a:t>Analyze/Report Data – Age Histogram </a:t>
            </a:r>
          </a:p>
        </p:txBody>
      </p:sp>
      <p:pic>
        <p:nvPicPr>
          <p:cNvPr id="9" name="Content Placeholder 8">
            <a:extLst>
              <a:ext uri="{FF2B5EF4-FFF2-40B4-BE49-F238E27FC236}">
                <a16:creationId xmlns:a16="http://schemas.microsoft.com/office/drawing/2014/main" id="{FE21E224-0DD6-8A9F-1E1B-09D89E67D611}"/>
              </a:ext>
            </a:extLst>
          </p:cNvPr>
          <p:cNvPicPr>
            <a:picLocks noGrp="1" noChangeAspect="1"/>
          </p:cNvPicPr>
          <p:nvPr>
            <p:ph idx="1"/>
          </p:nvPr>
        </p:nvPicPr>
        <p:blipFill>
          <a:blip r:embed="rId2"/>
          <a:stretch>
            <a:fillRect/>
          </a:stretch>
        </p:blipFill>
        <p:spPr>
          <a:xfrm>
            <a:off x="778933" y="1290384"/>
            <a:ext cx="10515600" cy="3389818"/>
          </a:xfrm>
          <a:prstGeom prst="rect">
            <a:avLst/>
          </a:prstGeom>
        </p:spPr>
      </p:pic>
      <p:sp>
        <p:nvSpPr>
          <p:cNvPr id="10" name="TextBox 9">
            <a:extLst>
              <a:ext uri="{FF2B5EF4-FFF2-40B4-BE49-F238E27FC236}">
                <a16:creationId xmlns:a16="http://schemas.microsoft.com/office/drawing/2014/main" id="{31248CD0-0AD7-B394-1F69-C254038A4DFF}"/>
              </a:ext>
            </a:extLst>
          </p:cNvPr>
          <p:cNvSpPr txBox="1"/>
          <p:nvPr/>
        </p:nvSpPr>
        <p:spPr>
          <a:xfrm>
            <a:off x="660400" y="4539345"/>
            <a:ext cx="10634133" cy="1754326"/>
          </a:xfrm>
          <a:prstGeom prst="rect">
            <a:avLst/>
          </a:prstGeom>
          <a:noFill/>
        </p:spPr>
        <p:txBody>
          <a:bodyPr wrap="square" rtlCol="0">
            <a:spAutoFit/>
          </a:bodyPr>
          <a:lstStyle/>
          <a:p>
            <a:r>
              <a:rPr lang="en-US" dirty="0"/>
              <a:t>Age represents the patient's age in years and is a common demographic and clinical variable in cardiovascular risk assessment. Risk typically increases with age due to cumulative exposure to metabolic and vascular stressors.</a:t>
            </a:r>
          </a:p>
          <a:p>
            <a:r>
              <a:rPr lang="en-US" dirty="0"/>
              <a:t>The histograms show a slightly left-skewed distribution, with most patients clustered between 45 and 60 years old. The normalized version preserves this shape, scaled between 0 and 1 for modeling purposes. This distribution suggests a mid-to-late adult cohort at around 55 YO peak, exhibiting slightly ununiform distribution.</a:t>
            </a:r>
          </a:p>
        </p:txBody>
      </p:sp>
    </p:spTree>
    <p:extLst>
      <p:ext uri="{BB962C8B-B14F-4D97-AF65-F5344CB8AC3E}">
        <p14:creationId xmlns:p14="http://schemas.microsoft.com/office/powerpoint/2010/main" val="12184586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445DA-83B7-7278-5FF5-7B37770D05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C40E70-9518-2D38-616D-144A7BD703EC}"/>
              </a:ext>
            </a:extLst>
          </p:cNvPr>
          <p:cNvSpPr>
            <a:spLocks noGrp="1"/>
          </p:cNvSpPr>
          <p:nvPr>
            <p:ph type="title"/>
          </p:nvPr>
        </p:nvSpPr>
        <p:spPr/>
        <p:txBody>
          <a:bodyPr/>
          <a:lstStyle/>
          <a:p>
            <a:r>
              <a:rPr lang="en-US" dirty="0"/>
              <a:t>Analyze/Report Data – Cholesterol Histogram </a:t>
            </a:r>
          </a:p>
        </p:txBody>
      </p:sp>
      <p:pic>
        <p:nvPicPr>
          <p:cNvPr id="6" name="Content Placeholder 5">
            <a:extLst>
              <a:ext uri="{FF2B5EF4-FFF2-40B4-BE49-F238E27FC236}">
                <a16:creationId xmlns:a16="http://schemas.microsoft.com/office/drawing/2014/main" id="{5C1B0387-A0DA-B4D0-A97D-B65B5EF4EF9B}"/>
              </a:ext>
            </a:extLst>
          </p:cNvPr>
          <p:cNvPicPr>
            <a:picLocks noGrp="1" noChangeAspect="1"/>
          </p:cNvPicPr>
          <p:nvPr>
            <p:ph idx="1"/>
          </p:nvPr>
        </p:nvPicPr>
        <p:blipFill>
          <a:blip r:embed="rId2"/>
          <a:stretch>
            <a:fillRect/>
          </a:stretch>
        </p:blipFill>
        <p:spPr>
          <a:xfrm>
            <a:off x="685800" y="1307414"/>
            <a:ext cx="10515600" cy="3491226"/>
          </a:xfrm>
          <a:prstGeom prst="rect">
            <a:avLst/>
          </a:prstGeom>
        </p:spPr>
      </p:pic>
      <p:sp>
        <p:nvSpPr>
          <p:cNvPr id="7" name="TextBox 6">
            <a:extLst>
              <a:ext uri="{FF2B5EF4-FFF2-40B4-BE49-F238E27FC236}">
                <a16:creationId xmlns:a16="http://schemas.microsoft.com/office/drawing/2014/main" id="{5F555CF4-D080-6360-6AF2-E0E5C905A7E7}"/>
              </a:ext>
            </a:extLst>
          </p:cNvPr>
          <p:cNvSpPr txBox="1"/>
          <p:nvPr/>
        </p:nvSpPr>
        <p:spPr>
          <a:xfrm>
            <a:off x="567267" y="4737631"/>
            <a:ext cx="11057466" cy="2031325"/>
          </a:xfrm>
          <a:prstGeom prst="rect">
            <a:avLst/>
          </a:prstGeom>
          <a:noFill/>
        </p:spPr>
        <p:txBody>
          <a:bodyPr wrap="square" rtlCol="0">
            <a:spAutoFit/>
          </a:bodyPr>
          <a:lstStyle/>
          <a:p>
            <a:r>
              <a:rPr lang="en-US" dirty="0"/>
              <a:t>Cholesterol measures the total serum cholesterol level (mg/dL) and are a common biomarker for cardiovascular risk. </a:t>
            </a:r>
          </a:p>
          <a:p>
            <a:endParaRPr lang="en-US" dirty="0"/>
          </a:p>
          <a:p>
            <a:r>
              <a:rPr lang="en-US" dirty="0"/>
              <a:t>The histograms show a right-skewed distribution, with most values between 150–300 mg/dL. The normalized version maintains this skew, scaled between 0 and 1, with most data concentrated around 0.2–0.6. This shape suggests that while high cholesterol is present in a subset of patients, it’s not uniformly distributed and may require stratification or interaction analysis to assess its true predictive impact.</a:t>
            </a:r>
          </a:p>
          <a:p>
            <a:endParaRPr lang="en-US" dirty="0"/>
          </a:p>
        </p:txBody>
      </p:sp>
    </p:spTree>
    <p:extLst>
      <p:ext uri="{BB962C8B-B14F-4D97-AF65-F5344CB8AC3E}">
        <p14:creationId xmlns:p14="http://schemas.microsoft.com/office/powerpoint/2010/main" val="3771040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5D6BA-14A6-99C2-AECD-04B9D6239F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9826BB-ECB6-474C-7FE7-B6906914E870}"/>
              </a:ext>
            </a:extLst>
          </p:cNvPr>
          <p:cNvSpPr>
            <a:spLocks noGrp="1"/>
          </p:cNvSpPr>
          <p:nvPr>
            <p:ph type="title"/>
          </p:nvPr>
        </p:nvSpPr>
        <p:spPr/>
        <p:txBody>
          <a:bodyPr/>
          <a:lstStyle/>
          <a:p>
            <a:r>
              <a:rPr lang="en-US" dirty="0"/>
              <a:t>Analyze/Report Data – MaxHR Histogram </a:t>
            </a:r>
          </a:p>
        </p:txBody>
      </p:sp>
      <p:pic>
        <p:nvPicPr>
          <p:cNvPr id="4" name="Picture 3">
            <a:extLst>
              <a:ext uri="{FF2B5EF4-FFF2-40B4-BE49-F238E27FC236}">
                <a16:creationId xmlns:a16="http://schemas.microsoft.com/office/drawing/2014/main" id="{38394D24-B683-C166-7CCB-ED4199B74407}"/>
              </a:ext>
            </a:extLst>
          </p:cNvPr>
          <p:cNvPicPr>
            <a:picLocks noChangeAspect="1"/>
          </p:cNvPicPr>
          <p:nvPr/>
        </p:nvPicPr>
        <p:blipFill>
          <a:blip r:embed="rId2"/>
          <a:stretch>
            <a:fillRect/>
          </a:stretch>
        </p:blipFill>
        <p:spPr>
          <a:xfrm>
            <a:off x="529939" y="1557868"/>
            <a:ext cx="11132122" cy="3693676"/>
          </a:xfrm>
          <a:prstGeom prst="rect">
            <a:avLst/>
          </a:prstGeom>
        </p:spPr>
      </p:pic>
      <p:sp>
        <p:nvSpPr>
          <p:cNvPr id="7" name="Content Placeholder 6">
            <a:extLst>
              <a:ext uri="{FF2B5EF4-FFF2-40B4-BE49-F238E27FC236}">
                <a16:creationId xmlns:a16="http://schemas.microsoft.com/office/drawing/2014/main" id="{11AF0E03-A9D7-43E5-4389-A7A97A419F53}"/>
              </a:ext>
            </a:extLst>
          </p:cNvPr>
          <p:cNvSpPr>
            <a:spLocks noGrp="1"/>
          </p:cNvSpPr>
          <p:nvPr>
            <p:ph idx="1"/>
          </p:nvPr>
        </p:nvSpPr>
        <p:spPr>
          <a:xfrm>
            <a:off x="838200" y="5139267"/>
            <a:ext cx="10515600" cy="1481666"/>
          </a:xfrm>
        </p:spPr>
        <p:txBody>
          <a:bodyPr>
            <a:normAutofit fontScale="55000" lnSpcReduction="20000"/>
          </a:bodyPr>
          <a:lstStyle/>
          <a:p>
            <a:pPr marL="0" indent="0">
              <a:buNone/>
            </a:pPr>
            <a:r>
              <a:rPr lang="en-US" dirty="0"/>
              <a:t>MaxHR represents the maximum heart rate achieved during exercise, typically measured in beats per minute (bpm). It reflects cardiovascular fitness and stress response, with lower values potentially indicating reduced cardiac function or chronotropic incompetence.</a:t>
            </a:r>
          </a:p>
          <a:p>
            <a:pPr marL="0" indent="0">
              <a:buNone/>
            </a:pPr>
            <a:r>
              <a:rPr lang="en-US" dirty="0"/>
              <a:t>The histograms show a roughly normal distribution, centered around typical adult exercise heart rates (~150 bpm), tapering off toward both lower and higher extremes. The normalized version retains this bell-shaped curve, scaled between 0 and 1 for algorithmic consistency. This symmetric pattern suggests MaxHR supports the central limit theorem for modeling, with potential predictive value depending on age-adjusted expectations or disease presence.</a:t>
            </a:r>
          </a:p>
          <a:p>
            <a:endParaRPr lang="en-US" dirty="0"/>
          </a:p>
        </p:txBody>
      </p:sp>
    </p:spTree>
    <p:extLst>
      <p:ext uri="{BB962C8B-B14F-4D97-AF65-F5344CB8AC3E}">
        <p14:creationId xmlns:p14="http://schemas.microsoft.com/office/powerpoint/2010/main" val="1518991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B22A3-063D-4860-266A-EF62D13EB1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59E557-3F1F-2C8C-2C70-B4197135FD01}"/>
              </a:ext>
            </a:extLst>
          </p:cNvPr>
          <p:cNvSpPr>
            <a:spLocks noGrp="1"/>
          </p:cNvSpPr>
          <p:nvPr>
            <p:ph type="title"/>
          </p:nvPr>
        </p:nvSpPr>
        <p:spPr/>
        <p:txBody>
          <a:bodyPr/>
          <a:lstStyle/>
          <a:p>
            <a:r>
              <a:rPr lang="en-US" dirty="0"/>
              <a:t>Analyze/Report Data – Oldpeak Histogram </a:t>
            </a:r>
          </a:p>
        </p:txBody>
      </p:sp>
      <p:pic>
        <p:nvPicPr>
          <p:cNvPr id="5" name="Picture 4">
            <a:extLst>
              <a:ext uri="{FF2B5EF4-FFF2-40B4-BE49-F238E27FC236}">
                <a16:creationId xmlns:a16="http://schemas.microsoft.com/office/drawing/2014/main" id="{92FFB4A5-AAF1-262B-8D58-D30F6D8FAB1A}"/>
              </a:ext>
            </a:extLst>
          </p:cNvPr>
          <p:cNvPicPr>
            <a:picLocks noChangeAspect="1"/>
          </p:cNvPicPr>
          <p:nvPr/>
        </p:nvPicPr>
        <p:blipFill>
          <a:blip r:embed="rId2"/>
          <a:stretch>
            <a:fillRect/>
          </a:stretch>
        </p:blipFill>
        <p:spPr>
          <a:xfrm>
            <a:off x="1186103" y="1430867"/>
            <a:ext cx="9048297" cy="3199434"/>
          </a:xfrm>
          <a:prstGeom prst="rect">
            <a:avLst/>
          </a:prstGeom>
        </p:spPr>
      </p:pic>
      <p:sp>
        <p:nvSpPr>
          <p:cNvPr id="12" name="Content Placeholder 11">
            <a:extLst>
              <a:ext uri="{FF2B5EF4-FFF2-40B4-BE49-F238E27FC236}">
                <a16:creationId xmlns:a16="http://schemas.microsoft.com/office/drawing/2014/main" id="{7F77134A-884C-BFF6-DFDE-8F43E3E41CBE}"/>
              </a:ext>
            </a:extLst>
          </p:cNvPr>
          <p:cNvSpPr>
            <a:spLocks noGrp="1"/>
          </p:cNvSpPr>
          <p:nvPr>
            <p:ph idx="1"/>
          </p:nvPr>
        </p:nvSpPr>
        <p:spPr>
          <a:xfrm>
            <a:off x="838200" y="4707467"/>
            <a:ext cx="10515600" cy="1710266"/>
          </a:xfrm>
        </p:spPr>
        <p:txBody>
          <a:bodyPr>
            <a:normAutofit fontScale="62500" lnSpcReduction="20000"/>
          </a:bodyPr>
          <a:lstStyle/>
          <a:p>
            <a:pPr marL="0" indent="0">
              <a:buNone/>
            </a:pPr>
            <a:r>
              <a:rPr lang="en-US" dirty="0"/>
              <a:t>Oldpeak quantifies ST segment depression (in mm) during exercise which is used to indicate potential myocardial ischemia. Higher values suggest reduced cardiac perfusion and are associated with increased heart disease risk.</a:t>
            </a:r>
          </a:p>
          <a:p>
            <a:pPr marL="0" indent="0">
              <a:buNone/>
            </a:pPr>
            <a:r>
              <a:rPr lang="en-US" dirty="0"/>
              <a:t>The histograms show a right-skewed distribution: Most patients have low Oldpeak values near zero, with a sharp decline as values increase. The normalized version preserves this shape and is scaled between 0 and 1 for model compatibility. This long-tailed pattern suggests that elevated Oldpeak values even in low quantity may carry significant predictive weight in cardiovascular risk models.</a:t>
            </a:r>
          </a:p>
          <a:p>
            <a:endParaRPr lang="en-US" dirty="0"/>
          </a:p>
        </p:txBody>
      </p:sp>
    </p:spTree>
    <p:extLst>
      <p:ext uri="{BB962C8B-B14F-4D97-AF65-F5344CB8AC3E}">
        <p14:creationId xmlns:p14="http://schemas.microsoft.com/office/powerpoint/2010/main" val="12394940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4FDF6-B0A7-6155-EC13-5EC8541611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9273DA-E903-6111-FBE2-E86BE7F54068}"/>
              </a:ext>
            </a:extLst>
          </p:cNvPr>
          <p:cNvSpPr>
            <a:spLocks noGrp="1"/>
          </p:cNvSpPr>
          <p:nvPr>
            <p:ph type="title"/>
          </p:nvPr>
        </p:nvSpPr>
        <p:spPr>
          <a:xfrm>
            <a:off x="838200" y="-19672"/>
            <a:ext cx="10515600" cy="1325563"/>
          </a:xfrm>
        </p:spPr>
        <p:txBody>
          <a:bodyPr/>
          <a:lstStyle/>
          <a:p>
            <a:r>
              <a:rPr lang="en-US" dirty="0"/>
              <a:t>Analyze/Report Data – Fasting BS</a:t>
            </a:r>
          </a:p>
        </p:txBody>
      </p:sp>
      <p:sp>
        <p:nvSpPr>
          <p:cNvPr id="12" name="Content Placeholder 11">
            <a:extLst>
              <a:ext uri="{FF2B5EF4-FFF2-40B4-BE49-F238E27FC236}">
                <a16:creationId xmlns:a16="http://schemas.microsoft.com/office/drawing/2014/main" id="{FFEF96A4-9FA8-35B0-6B20-129AAE3766FB}"/>
              </a:ext>
            </a:extLst>
          </p:cNvPr>
          <p:cNvSpPr>
            <a:spLocks noGrp="1"/>
          </p:cNvSpPr>
          <p:nvPr>
            <p:ph idx="1"/>
          </p:nvPr>
        </p:nvSpPr>
        <p:spPr>
          <a:xfrm>
            <a:off x="838200" y="4707466"/>
            <a:ext cx="10515600" cy="1837267"/>
          </a:xfrm>
        </p:spPr>
        <p:txBody>
          <a:bodyPr>
            <a:normAutofit fontScale="62500" lnSpcReduction="20000"/>
          </a:bodyPr>
          <a:lstStyle/>
          <a:p>
            <a:pPr marL="0" indent="0">
              <a:buNone/>
            </a:pPr>
            <a:r>
              <a:rPr lang="en-US" dirty="0"/>
              <a:t>FastingBS is a binary indicator of fasting blood sugar levels:</a:t>
            </a:r>
          </a:p>
          <a:p>
            <a:pPr marL="0" indent="0">
              <a:buNone/>
            </a:pPr>
            <a:r>
              <a:rPr lang="en-US" dirty="0"/>
              <a:t>0 = ≤120 mg/dL (normal)</a:t>
            </a:r>
          </a:p>
          <a:p>
            <a:pPr marL="0" indent="0">
              <a:buNone/>
            </a:pPr>
            <a:r>
              <a:rPr lang="en-US" dirty="0"/>
              <a:t>1 = &gt;120 mg/dL (elevated)</a:t>
            </a:r>
          </a:p>
          <a:p>
            <a:pPr marL="0" indent="0">
              <a:buNone/>
            </a:pPr>
            <a:r>
              <a:rPr lang="en-US" dirty="0"/>
              <a:t>The bar chart shows a highly imbalanced distribution, with most patients falling in the normal range (FastingBS = 0). Elevated fasting blood sugar (FastingBS = 1) is relatively rare, suggesting limited prevalence of hyperglycemia in this cohort. This imbalance may affect model sensitivity and should be considered when evaluating glucose-related risk factors.</a:t>
            </a:r>
          </a:p>
          <a:p>
            <a:endParaRPr lang="en-US" dirty="0"/>
          </a:p>
        </p:txBody>
      </p:sp>
      <p:pic>
        <p:nvPicPr>
          <p:cNvPr id="4" name="Picture 3">
            <a:extLst>
              <a:ext uri="{FF2B5EF4-FFF2-40B4-BE49-F238E27FC236}">
                <a16:creationId xmlns:a16="http://schemas.microsoft.com/office/drawing/2014/main" id="{78F6B8B7-7284-3FBB-07FE-3BB460F013D8}"/>
              </a:ext>
            </a:extLst>
          </p:cNvPr>
          <p:cNvPicPr>
            <a:picLocks noChangeAspect="1"/>
          </p:cNvPicPr>
          <p:nvPr/>
        </p:nvPicPr>
        <p:blipFill>
          <a:blip r:embed="rId2"/>
          <a:stretch>
            <a:fillRect/>
          </a:stretch>
        </p:blipFill>
        <p:spPr>
          <a:xfrm>
            <a:off x="613715" y="1305891"/>
            <a:ext cx="4174864" cy="3240709"/>
          </a:xfrm>
          <a:prstGeom prst="rect">
            <a:avLst/>
          </a:prstGeom>
        </p:spPr>
      </p:pic>
    </p:spTree>
    <p:extLst>
      <p:ext uri="{BB962C8B-B14F-4D97-AF65-F5344CB8AC3E}">
        <p14:creationId xmlns:p14="http://schemas.microsoft.com/office/powerpoint/2010/main" val="2314719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F27AA-2A95-BD90-006E-F700ACB538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2E2142-B3EB-8C6F-C2D2-45473CEAB739}"/>
              </a:ext>
            </a:extLst>
          </p:cNvPr>
          <p:cNvSpPr>
            <a:spLocks noGrp="1"/>
          </p:cNvSpPr>
          <p:nvPr>
            <p:ph type="title"/>
          </p:nvPr>
        </p:nvSpPr>
        <p:spPr>
          <a:xfrm>
            <a:off x="919807" y="144992"/>
            <a:ext cx="10515600" cy="1325563"/>
          </a:xfrm>
        </p:spPr>
        <p:txBody>
          <a:bodyPr/>
          <a:lstStyle/>
          <a:p>
            <a:r>
              <a:rPr lang="en-US" dirty="0"/>
              <a:t>Analyze/Report Data – HeartDisease</a:t>
            </a:r>
          </a:p>
        </p:txBody>
      </p:sp>
      <p:sp>
        <p:nvSpPr>
          <p:cNvPr id="12" name="Content Placeholder 11">
            <a:extLst>
              <a:ext uri="{FF2B5EF4-FFF2-40B4-BE49-F238E27FC236}">
                <a16:creationId xmlns:a16="http://schemas.microsoft.com/office/drawing/2014/main" id="{724044F8-79E1-E070-A821-34A0818ADD53}"/>
              </a:ext>
            </a:extLst>
          </p:cNvPr>
          <p:cNvSpPr>
            <a:spLocks noGrp="1"/>
          </p:cNvSpPr>
          <p:nvPr>
            <p:ph idx="1"/>
          </p:nvPr>
        </p:nvSpPr>
        <p:spPr>
          <a:xfrm>
            <a:off x="756593" y="4839231"/>
            <a:ext cx="10515600" cy="1710266"/>
          </a:xfrm>
        </p:spPr>
        <p:txBody>
          <a:bodyPr>
            <a:normAutofit fontScale="62500" lnSpcReduction="20000"/>
          </a:bodyPr>
          <a:lstStyle/>
          <a:p>
            <a:pPr marL="0" indent="0">
              <a:buNone/>
            </a:pPr>
            <a:r>
              <a:rPr lang="en-US" dirty="0"/>
              <a:t>HeartDisease is a binary outcome variable:</a:t>
            </a:r>
          </a:p>
          <a:p>
            <a:pPr marL="0" indent="0">
              <a:buNone/>
            </a:pPr>
            <a:r>
              <a:rPr lang="en-US" dirty="0"/>
              <a:t>0 = no heart disease</a:t>
            </a:r>
          </a:p>
          <a:p>
            <a:pPr marL="0" indent="0">
              <a:buNone/>
            </a:pPr>
            <a:r>
              <a:rPr lang="en-US" dirty="0"/>
              <a:t>1 = presence of heart disease</a:t>
            </a:r>
          </a:p>
          <a:p>
            <a:pPr marL="0" indent="0">
              <a:buNone/>
            </a:pPr>
            <a:r>
              <a:rPr lang="en-US" dirty="0"/>
              <a:t>The bar chart shows a slightly imbalanced distribution, with more individuals in the non-disease group. This suggests a modest class imbalance and could affect classification tasks in modeling. This split should be accounted for in evaluation metrics and sampling strategies.</a:t>
            </a:r>
          </a:p>
          <a:p>
            <a:endParaRPr lang="en-US" dirty="0"/>
          </a:p>
        </p:txBody>
      </p:sp>
      <p:pic>
        <p:nvPicPr>
          <p:cNvPr id="7" name="Picture 6">
            <a:extLst>
              <a:ext uri="{FF2B5EF4-FFF2-40B4-BE49-F238E27FC236}">
                <a16:creationId xmlns:a16="http://schemas.microsoft.com/office/drawing/2014/main" id="{393D7363-006E-BE9C-21CD-404CBB4B82F5}"/>
              </a:ext>
            </a:extLst>
          </p:cNvPr>
          <p:cNvPicPr>
            <a:picLocks noChangeAspect="1"/>
          </p:cNvPicPr>
          <p:nvPr/>
        </p:nvPicPr>
        <p:blipFill>
          <a:blip r:embed="rId2"/>
          <a:stretch>
            <a:fillRect/>
          </a:stretch>
        </p:blipFill>
        <p:spPr>
          <a:xfrm>
            <a:off x="756593" y="1216374"/>
            <a:ext cx="4515082" cy="3530781"/>
          </a:xfrm>
          <a:prstGeom prst="rect">
            <a:avLst/>
          </a:prstGeom>
        </p:spPr>
      </p:pic>
    </p:spTree>
    <p:extLst>
      <p:ext uri="{BB962C8B-B14F-4D97-AF65-F5344CB8AC3E}">
        <p14:creationId xmlns:p14="http://schemas.microsoft.com/office/powerpoint/2010/main" val="6886876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93A9F-6EFA-4266-481B-E3A492E04A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25EFBA-2256-74B8-5713-E8834F6DCB6C}"/>
              </a:ext>
            </a:extLst>
          </p:cNvPr>
          <p:cNvSpPr>
            <a:spLocks noGrp="1"/>
          </p:cNvSpPr>
          <p:nvPr>
            <p:ph type="title"/>
          </p:nvPr>
        </p:nvSpPr>
        <p:spPr>
          <a:xfrm>
            <a:off x="919807" y="144992"/>
            <a:ext cx="10515600" cy="1325563"/>
          </a:xfrm>
        </p:spPr>
        <p:txBody>
          <a:bodyPr/>
          <a:lstStyle/>
          <a:p>
            <a:r>
              <a:rPr lang="en-US" dirty="0"/>
              <a:t>Analyze/Report Data – Cholesterol vs. Heart Disease</a:t>
            </a:r>
          </a:p>
        </p:txBody>
      </p:sp>
      <p:sp>
        <p:nvSpPr>
          <p:cNvPr id="12" name="Content Placeholder 11">
            <a:extLst>
              <a:ext uri="{FF2B5EF4-FFF2-40B4-BE49-F238E27FC236}">
                <a16:creationId xmlns:a16="http://schemas.microsoft.com/office/drawing/2014/main" id="{3DB21920-16E2-BF4A-EC76-0D9AD0FDBF98}"/>
              </a:ext>
            </a:extLst>
          </p:cNvPr>
          <p:cNvSpPr>
            <a:spLocks noGrp="1"/>
          </p:cNvSpPr>
          <p:nvPr>
            <p:ph idx="1"/>
          </p:nvPr>
        </p:nvSpPr>
        <p:spPr>
          <a:xfrm>
            <a:off x="756593" y="4839231"/>
            <a:ext cx="10515600" cy="1710266"/>
          </a:xfrm>
        </p:spPr>
        <p:txBody>
          <a:bodyPr>
            <a:normAutofit/>
          </a:bodyPr>
          <a:lstStyle/>
          <a:p>
            <a:pPr marL="0" indent="0">
              <a:buNone/>
            </a:pPr>
            <a:r>
              <a:rPr lang="en-US" sz="1600" dirty="0"/>
              <a:t>This scatter plot shows the relationship between Age and Cholesterol and is stratified by HeartDisease status. Blue points represent individuals without heart disease, while orange points represent those with it. Both groups show wide variability in cholesterol across ages. There is no strong visual separation between disease and non-disease groups.</a:t>
            </a:r>
          </a:p>
          <a:p>
            <a:pPr marL="0" indent="0">
              <a:buNone/>
            </a:pPr>
            <a:r>
              <a:rPr lang="en-US" sz="1600" dirty="0"/>
              <a:t>The trend lines for each group are relatively flat, suggesting weak or no linear correlation between age and cholesterol irrespective of heart disease status. This supports the idea that cholesterol alone may not be a strong age-dependent predictor of heart disease suggesting a need to consider other biometric factors in risk modeling.</a:t>
            </a:r>
          </a:p>
        </p:txBody>
      </p:sp>
      <p:pic>
        <p:nvPicPr>
          <p:cNvPr id="9" name="Picture 8">
            <a:extLst>
              <a:ext uri="{FF2B5EF4-FFF2-40B4-BE49-F238E27FC236}">
                <a16:creationId xmlns:a16="http://schemas.microsoft.com/office/drawing/2014/main" id="{4CC64765-2741-CFEA-3929-C4B2FFED6D66}"/>
              </a:ext>
            </a:extLst>
          </p:cNvPr>
          <p:cNvPicPr>
            <a:picLocks noChangeAspect="1"/>
          </p:cNvPicPr>
          <p:nvPr/>
        </p:nvPicPr>
        <p:blipFill>
          <a:blip r:embed="rId2"/>
          <a:stretch>
            <a:fillRect/>
          </a:stretch>
        </p:blipFill>
        <p:spPr>
          <a:xfrm>
            <a:off x="919807" y="1349530"/>
            <a:ext cx="5696152" cy="3489701"/>
          </a:xfrm>
          <a:prstGeom prst="rect">
            <a:avLst/>
          </a:prstGeom>
        </p:spPr>
      </p:pic>
    </p:spTree>
    <p:extLst>
      <p:ext uri="{BB962C8B-B14F-4D97-AF65-F5344CB8AC3E}">
        <p14:creationId xmlns:p14="http://schemas.microsoft.com/office/powerpoint/2010/main" val="5215587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E9BA3-40F2-F8F3-D8FA-37CC21F1A5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05F606-6719-D6C5-BC2D-7F50C5BCEF5F}"/>
              </a:ext>
            </a:extLst>
          </p:cNvPr>
          <p:cNvSpPr>
            <a:spLocks noGrp="1"/>
          </p:cNvSpPr>
          <p:nvPr>
            <p:ph type="title"/>
          </p:nvPr>
        </p:nvSpPr>
        <p:spPr>
          <a:xfrm>
            <a:off x="855134" y="-281782"/>
            <a:ext cx="10515600" cy="1325563"/>
          </a:xfrm>
        </p:spPr>
        <p:txBody>
          <a:bodyPr/>
          <a:lstStyle/>
          <a:p>
            <a:r>
              <a:rPr lang="en-US" dirty="0"/>
              <a:t>Analyze/Report Data – Age vs MaxHR</a:t>
            </a:r>
          </a:p>
        </p:txBody>
      </p:sp>
      <p:sp>
        <p:nvSpPr>
          <p:cNvPr id="12" name="Content Placeholder 11">
            <a:extLst>
              <a:ext uri="{FF2B5EF4-FFF2-40B4-BE49-F238E27FC236}">
                <a16:creationId xmlns:a16="http://schemas.microsoft.com/office/drawing/2014/main" id="{7283E230-FB37-1223-C33F-B4114740A538}"/>
              </a:ext>
            </a:extLst>
          </p:cNvPr>
          <p:cNvSpPr>
            <a:spLocks noGrp="1"/>
          </p:cNvSpPr>
          <p:nvPr>
            <p:ph idx="1"/>
          </p:nvPr>
        </p:nvSpPr>
        <p:spPr>
          <a:xfrm>
            <a:off x="855134" y="4521694"/>
            <a:ext cx="10515600" cy="1955306"/>
          </a:xfrm>
        </p:spPr>
        <p:txBody>
          <a:bodyPr>
            <a:normAutofit/>
          </a:bodyPr>
          <a:lstStyle/>
          <a:p>
            <a:pPr marL="0" indent="0">
              <a:buNone/>
            </a:pPr>
            <a:r>
              <a:rPr lang="en-US" sz="1600" dirty="0"/>
              <a:t>This bubble plot visualizes the relationship between Age and MaxHR (maximum heart rate), with two additional dimensions:</a:t>
            </a:r>
          </a:p>
          <a:p>
            <a:pPr marL="0" indent="0">
              <a:buNone/>
            </a:pPr>
            <a:r>
              <a:rPr lang="en-US" sz="1600" dirty="0"/>
              <a:t>•Bubble size reflects Oldpeak (ST depression induced by exercise),</a:t>
            </a:r>
          </a:p>
          <a:p>
            <a:pPr marL="0" indent="0">
              <a:buNone/>
            </a:pPr>
            <a:r>
              <a:rPr lang="en-US" sz="1600" dirty="0"/>
              <a:t>•Bubble color indicates HeartDisease status (blue = no heart disease, orange = heart disease).</a:t>
            </a:r>
          </a:p>
          <a:p>
            <a:pPr marL="0" indent="0">
              <a:buNone/>
            </a:pPr>
            <a:r>
              <a:rPr lang="en-US" sz="1600" dirty="0"/>
              <a:t>From the plot, we observe that individuals with heart disease (orange bubbles) tend to cluster at lower MaxHR values, especially in older age groups. Larger bubbles (indicating higher Oldpeak) are more frequently associated with heart disease, suggesting that elevated Oldpeak and reduced MaxHR may be linked to cardiac risk.</a:t>
            </a:r>
          </a:p>
        </p:txBody>
      </p:sp>
      <p:pic>
        <p:nvPicPr>
          <p:cNvPr id="4" name="Picture 3">
            <a:extLst>
              <a:ext uri="{FF2B5EF4-FFF2-40B4-BE49-F238E27FC236}">
                <a16:creationId xmlns:a16="http://schemas.microsoft.com/office/drawing/2014/main" id="{A8C29B59-F15E-B3B0-5EB9-16E9A3CB8938}"/>
              </a:ext>
            </a:extLst>
          </p:cNvPr>
          <p:cNvPicPr>
            <a:picLocks noChangeAspect="1"/>
          </p:cNvPicPr>
          <p:nvPr/>
        </p:nvPicPr>
        <p:blipFill>
          <a:blip r:embed="rId2"/>
          <a:stretch>
            <a:fillRect/>
          </a:stretch>
        </p:blipFill>
        <p:spPr>
          <a:xfrm>
            <a:off x="855134" y="655845"/>
            <a:ext cx="4842933" cy="3865850"/>
          </a:xfrm>
          <a:prstGeom prst="rect">
            <a:avLst/>
          </a:prstGeom>
        </p:spPr>
      </p:pic>
    </p:spTree>
    <p:extLst>
      <p:ext uri="{BB962C8B-B14F-4D97-AF65-F5344CB8AC3E}">
        <p14:creationId xmlns:p14="http://schemas.microsoft.com/office/powerpoint/2010/main" val="23841952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D5F4D-ABC4-729E-75E3-D3FFB492F5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410D10-CEE7-F48E-761E-2AA031225240}"/>
              </a:ext>
            </a:extLst>
          </p:cNvPr>
          <p:cNvSpPr>
            <a:spLocks noGrp="1"/>
          </p:cNvSpPr>
          <p:nvPr>
            <p:ph type="title"/>
          </p:nvPr>
        </p:nvSpPr>
        <p:spPr>
          <a:xfrm>
            <a:off x="711200" y="-222515"/>
            <a:ext cx="10515600" cy="1325563"/>
          </a:xfrm>
        </p:spPr>
        <p:txBody>
          <a:bodyPr>
            <a:normAutofit/>
          </a:bodyPr>
          <a:lstStyle/>
          <a:p>
            <a:r>
              <a:rPr lang="en-US" sz="3600" dirty="0"/>
              <a:t>Analyze/Report Data – Age vs Normalized Biometrics</a:t>
            </a:r>
          </a:p>
        </p:txBody>
      </p:sp>
      <p:sp>
        <p:nvSpPr>
          <p:cNvPr id="12" name="Content Placeholder 11">
            <a:extLst>
              <a:ext uri="{FF2B5EF4-FFF2-40B4-BE49-F238E27FC236}">
                <a16:creationId xmlns:a16="http://schemas.microsoft.com/office/drawing/2014/main" id="{14BACFA6-C7ED-927A-61E3-8595728BB7DD}"/>
              </a:ext>
            </a:extLst>
          </p:cNvPr>
          <p:cNvSpPr>
            <a:spLocks noGrp="1"/>
          </p:cNvSpPr>
          <p:nvPr>
            <p:ph idx="1"/>
          </p:nvPr>
        </p:nvSpPr>
        <p:spPr>
          <a:xfrm>
            <a:off x="855134" y="4521694"/>
            <a:ext cx="10515600" cy="1955306"/>
          </a:xfrm>
        </p:spPr>
        <p:txBody>
          <a:bodyPr>
            <a:normAutofit fontScale="92500"/>
          </a:bodyPr>
          <a:lstStyle/>
          <a:p>
            <a:pPr marL="0" indent="0">
              <a:buNone/>
            </a:pPr>
            <a:r>
              <a:rPr lang="en-US" sz="1600" dirty="0"/>
              <a:t>This scatter plot illustrates how normalized health metrics Cholesterol (blue), MaxHR (red), and Oldpeak (green) vary across age. </a:t>
            </a:r>
          </a:p>
          <a:p>
            <a:pPr marL="0" indent="0">
              <a:buNone/>
            </a:pPr>
            <a:r>
              <a:rPr lang="en-US" sz="1600" dirty="0"/>
              <a:t>MaxHR values decline steadily with age, reflecting reduced cardiovascular capacity. </a:t>
            </a:r>
          </a:p>
          <a:p>
            <a:pPr marL="0" indent="0">
              <a:buNone/>
            </a:pPr>
            <a:r>
              <a:rPr lang="en-US" sz="1600" dirty="0"/>
              <a:t>Oldpeak shows greater variability, with elevated levels more common in older individuals, suggesting increased exercise-induced stress. </a:t>
            </a:r>
          </a:p>
          <a:p>
            <a:pPr marL="0" indent="0">
              <a:buNone/>
            </a:pPr>
            <a:r>
              <a:rPr lang="en-US" sz="1600" dirty="0"/>
              <a:t>Cholesterol appears more evenly distributed, with modest clustering in mid-to-late age ranges. </a:t>
            </a:r>
          </a:p>
          <a:p>
            <a:pPr marL="0" indent="0">
              <a:buNone/>
            </a:pPr>
            <a:r>
              <a:rPr lang="en-US" sz="1600" dirty="0"/>
              <a:t>This chart suggests that age-related shifts in MaxHR and Oldpeak may offer stronger signals of cardiac risk than cholesterol alone.</a:t>
            </a:r>
          </a:p>
        </p:txBody>
      </p:sp>
      <p:pic>
        <p:nvPicPr>
          <p:cNvPr id="5" name="Picture 4">
            <a:extLst>
              <a:ext uri="{FF2B5EF4-FFF2-40B4-BE49-F238E27FC236}">
                <a16:creationId xmlns:a16="http://schemas.microsoft.com/office/drawing/2014/main" id="{3A2B5E2B-69C8-F040-BD66-649C60057123}"/>
              </a:ext>
            </a:extLst>
          </p:cNvPr>
          <p:cNvPicPr>
            <a:picLocks noChangeAspect="1"/>
          </p:cNvPicPr>
          <p:nvPr/>
        </p:nvPicPr>
        <p:blipFill>
          <a:blip r:embed="rId2"/>
          <a:stretch>
            <a:fillRect/>
          </a:stretch>
        </p:blipFill>
        <p:spPr>
          <a:xfrm>
            <a:off x="1371600" y="878629"/>
            <a:ext cx="5179727" cy="3524037"/>
          </a:xfrm>
          <a:prstGeom prst="rect">
            <a:avLst/>
          </a:prstGeom>
        </p:spPr>
      </p:pic>
    </p:spTree>
    <p:extLst>
      <p:ext uri="{BB962C8B-B14F-4D97-AF65-F5344CB8AC3E}">
        <p14:creationId xmlns:p14="http://schemas.microsoft.com/office/powerpoint/2010/main" val="28459015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A7252-6823-44F9-B464-D7A15D12BB65}"/>
              </a:ext>
            </a:extLst>
          </p:cNvPr>
          <p:cNvSpPr>
            <a:spLocks noGrp="1"/>
          </p:cNvSpPr>
          <p:nvPr>
            <p:ph type="title"/>
          </p:nvPr>
        </p:nvSpPr>
        <p:spPr/>
        <p:txBody>
          <a:bodyPr/>
          <a:lstStyle/>
          <a:p>
            <a:r>
              <a:rPr lang="en-US" dirty="0"/>
              <a:t>Analyze/ Report – Logistic Regression Model</a:t>
            </a:r>
          </a:p>
        </p:txBody>
      </p:sp>
      <p:sp>
        <p:nvSpPr>
          <p:cNvPr id="3" name="Content Placeholder 2">
            <a:extLst>
              <a:ext uri="{FF2B5EF4-FFF2-40B4-BE49-F238E27FC236}">
                <a16:creationId xmlns:a16="http://schemas.microsoft.com/office/drawing/2014/main" id="{7FEAE391-6366-4E20-A14E-0ECFAEA8029A}"/>
              </a:ext>
            </a:extLst>
          </p:cNvPr>
          <p:cNvSpPr>
            <a:spLocks noGrp="1"/>
          </p:cNvSpPr>
          <p:nvPr>
            <p:ph idx="1"/>
          </p:nvPr>
        </p:nvSpPr>
        <p:spPr/>
        <p:txBody>
          <a:bodyPr>
            <a:normAutofit fontScale="92500" lnSpcReduction="20000"/>
          </a:bodyPr>
          <a:lstStyle/>
          <a:p>
            <a:pPr marL="0" indent="0">
              <a:buNone/>
            </a:pPr>
            <a:r>
              <a:rPr lang="en-US" sz="2200" b="1" dirty="0">
                <a:solidFill>
                  <a:srgbClr val="000000"/>
                </a:solidFill>
                <a:latin typeface="Cambria Math" panose="02040503050406030204" pitchFamily="18" charset="0"/>
                <a:ea typeface="Cambria Math" panose="02040503050406030204" pitchFamily="18" charset="0"/>
              </a:rPr>
              <a:t>HeartDisease</a:t>
            </a:r>
            <a:r>
              <a:rPr lang="en-US" sz="1800" b="1" dirty="0">
                <a:solidFill>
                  <a:srgbClr val="000000"/>
                </a:solidFill>
                <a:latin typeface="Cambria Math" panose="02040503050406030204" pitchFamily="18" charset="0"/>
                <a:ea typeface="Cambria Math" panose="02040503050406030204" pitchFamily="18" charset="0"/>
              </a:rPr>
              <a:t> </a:t>
            </a:r>
            <a:r>
              <a:rPr lang="en-US" sz="1800" dirty="0">
                <a:solidFill>
                  <a:srgbClr val="000000"/>
                </a:solidFill>
                <a:latin typeface="Cambria Math" panose="02040503050406030204" pitchFamily="18" charset="0"/>
                <a:ea typeface="Cambria Math" panose="02040503050406030204" pitchFamily="18" charset="0"/>
              </a:rPr>
              <a:t>= 1 / (1 + e^-(0.6687 × </a:t>
            </a:r>
            <a:r>
              <a:rPr lang="en-US" sz="1700" b="1" dirty="0">
                <a:latin typeface="Cambria Math" panose="02040503050406030204" pitchFamily="18" charset="0"/>
                <a:ea typeface="Cambria Math" panose="02040503050406030204" pitchFamily="18" charset="0"/>
              </a:rPr>
              <a:t>Cholesterol_normalized</a:t>
            </a:r>
            <a:r>
              <a:rPr lang="en-US" sz="1900" b="1" dirty="0">
                <a:latin typeface="Cambria Math" panose="02040503050406030204" pitchFamily="18" charset="0"/>
                <a:ea typeface="Cambria Math" panose="02040503050406030204" pitchFamily="18" charset="0"/>
              </a:rPr>
              <a:t> </a:t>
            </a:r>
            <a:r>
              <a:rPr lang="en-US" sz="1800" dirty="0">
                <a:solidFill>
                  <a:srgbClr val="000000"/>
                </a:solidFill>
                <a:latin typeface="Cambria Math" panose="02040503050406030204" pitchFamily="18" charset="0"/>
                <a:ea typeface="Cambria Math" panose="02040503050406030204" pitchFamily="18" charset="0"/>
              </a:rPr>
              <a:t>- 3.1501 × </a:t>
            </a:r>
            <a:r>
              <a:rPr lang="en-US" sz="1700" b="1" dirty="0">
                <a:solidFill>
                  <a:srgbClr val="000000"/>
                </a:solidFill>
                <a:latin typeface="Cambria Math" panose="02040503050406030204" pitchFamily="18" charset="0"/>
                <a:ea typeface="Cambria Math" panose="02040503050406030204" pitchFamily="18" charset="0"/>
              </a:rPr>
              <a:t>MaxHR_normalized</a:t>
            </a:r>
            <a:r>
              <a:rPr lang="en-US" sz="1800" b="1" dirty="0">
                <a:solidFill>
                  <a:srgbClr val="000000"/>
                </a:solidFill>
                <a:latin typeface="Cambria Math" panose="02040503050406030204" pitchFamily="18" charset="0"/>
                <a:ea typeface="Cambria Math" panose="02040503050406030204" pitchFamily="18" charset="0"/>
              </a:rPr>
              <a:t> </a:t>
            </a:r>
            <a:r>
              <a:rPr lang="en-US" sz="1800" dirty="0">
                <a:solidFill>
                  <a:srgbClr val="000000"/>
                </a:solidFill>
                <a:latin typeface="Cambria Math" panose="02040503050406030204" pitchFamily="18" charset="0"/>
                <a:ea typeface="Cambria Math" panose="02040503050406030204" pitchFamily="18" charset="0"/>
              </a:rPr>
              <a:t>+ 4.6872 × </a:t>
            </a:r>
            <a:r>
              <a:rPr lang="en-US" sz="1700" b="1" dirty="0">
                <a:solidFill>
                  <a:srgbClr val="000000"/>
                </a:solidFill>
                <a:latin typeface="Cambria Math" panose="02040503050406030204" pitchFamily="18" charset="0"/>
                <a:ea typeface="Cambria Math" panose="02040503050406030204" pitchFamily="18" charset="0"/>
              </a:rPr>
              <a:t>Oldpeak_normalized </a:t>
            </a:r>
            <a:r>
              <a:rPr lang="en-US" sz="1800" dirty="0">
                <a:solidFill>
                  <a:srgbClr val="000000"/>
                </a:solidFill>
                <a:latin typeface="Cambria Math" panose="02040503050406030204" pitchFamily="18" charset="0"/>
                <a:ea typeface="Cambria Math" panose="02040503050406030204" pitchFamily="18" charset="0"/>
              </a:rPr>
              <a:t>+ β₀))</a:t>
            </a:r>
          </a:p>
          <a:p>
            <a:pPr marL="0" indent="0">
              <a:buNone/>
            </a:pPr>
            <a:endParaRPr lang="en-US" sz="1800" dirty="0"/>
          </a:p>
          <a:p>
            <a:pPr marL="0" indent="0">
              <a:buNone/>
            </a:pPr>
            <a:r>
              <a:rPr lang="en-US" sz="1800" dirty="0"/>
              <a:t>The model accuracy = 77% </a:t>
            </a:r>
          </a:p>
          <a:p>
            <a:pPr marL="0" indent="0">
              <a:buNone/>
            </a:pPr>
            <a:r>
              <a:rPr lang="en-US" sz="1800" dirty="0"/>
              <a:t>AUC-ROC = 0.85, meaning strong classification performance.</a:t>
            </a:r>
          </a:p>
          <a:p>
            <a:pPr marL="0" indent="0">
              <a:buNone/>
            </a:pPr>
            <a:r>
              <a:rPr lang="en-US" sz="1800" dirty="0"/>
              <a:t>Precision is 0.83 for heart disease (class 1) and 0.71 for non-heart disease (class 0)</a:t>
            </a:r>
          </a:p>
          <a:p>
            <a:pPr marL="0" indent="0">
              <a:buNone/>
            </a:pPr>
            <a:r>
              <a:rPr lang="en-US" sz="1800" dirty="0"/>
              <a:t>Recall is 0.70 for class 1 and 0.85 for class 0. </a:t>
            </a:r>
          </a:p>
          <a:p>
            <a:pPr marL="0" indent="0">
              <a:buNone/>
            </a:pPr>
            <a:r>
              <a:rPr lang="en-US" sz="1800" dirty="0"/>
              <a:t>F1-scores are balanced at 0.76 and 0.77, respectively. </a:t>
            </a:r>
          </a:p>
          <a:p>
            <a:pPr marL="0" indent="0">
              <a:buNone/>
            </a:pPr>
            <a:endParaRPr lang="en-US" sz="1800" dirty="0"/>
          </a:p>
          <a:p>
            <a:pPr marL="0" indent="0">
              <a:buNone/>
            </a:pPr>
            <a:r>
              <a:rPr lang="en-US" sz="1800" b="1" dirty="0"/>
              <a:t>Predictor Interpretation: </a:t>
            </a:r>
          </a:p>
          <a:p>
            <a:pPr marL="0" indent="0">
              <a:buNone/>
            </a:pPr>
            <a:r>
              <a:rPr lang="en-US" sz="1800" b="1" dirty="0" err="1"/>
              <a:t>Oldpeak_normalized</a:t>
            </a:r>
            <a:r>
              <a:rPr lang="en-US" sz="1800" b="1" dirty="0"/>
              <a:t> </a:t>
            </a:r>
            <a:r>
              <a:rPr lang="en-US" sz="1800" dirty="0"/>
              <a:t>has the strongest effect with a coefficient of 4.69 and an odds ratio of 108.55, indicating a substantial increase in heart disease risk. </a:t>
            </a:r>
          </a:p>
          <a:p>
            <a:pPr marL="0" indent="0">
              <a:buNone/>
            </a:pPr>
            <a:r>
              <a:rPr lang="en-US" sz="1800" b="1" dirty="0" err="1"/>
              <a:t>MaxHR_normalized</a:t>
            </a:r>
            <a:r>
              <a:rPr lang="en-US" sz="1800" b="1" dirty="0"/>
              <a:t> </a:t>
            </a:r>
            <a:r>
              <a:rPr lang="en-US" sz="1800" dirty="0"/>
              <a:t>has a coefficient of –3.15 and an odds ratio of 0.04, showing a strong protective effect. </a:t>
            </a:r>
          </a:p>
          <a:p>
            <a:pPr marL="0" indent="0">
              <a:buNone/>
            </a:pPr>
            <a:r>
              <a:rPr lang="en-US" sz="1800" b="1" dirty="0"/>
              <a:t>Cholesterol_normalized </a:t>
            </a:r>
            <a:r>
              <a:rPr lang="en-US" sz="1800" dirty="0"/>
              <a:t>has a moderate positive association with heart disease, with a coefficient of 0.67 and an odds ratio of 1.95.</a:t>
            </a:r>
            <a:endParaRPr lang="en-US" sz="1800" dirty="0">
              <a:solidFill>
                <a:srgbClr val="000000"/>
              </a:solidFill>
              <a:effectLst/>
              <a:latin typeface="Times New Roman" panose="02020603050405020304" pitchFamily="18" charset="0"/>
              <a:ea typeface="Times New Roman" panose="02020603050405020304" pitchFamily="18" charset="0"/>
            </a:endParaRPr>
          </a:p>
          <a:p>
            <a:endParaRPr lang="en-US" dirty="0"/>
          </a:p>
        </p:txBody>
      </p:sp>
    </p:spTree>
    <p:extLst>
      <p:ext uri="{BB962C8B-B14F-4D97-AF65-F5344CB8AC3E}">
        <p14:creationId xmlns:p14="http://schemas.microsoft.com/office/powerpoint/2010/main" val="23099084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FC5A1-6995-A71E-0B58-0631DC0C60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68BA11-868F-4473-9B2E-0D44907D8F0C}"/>
              </a:ext>
            </a:extLst>
          </p:cNvPr>
          <p:cNvSpPr>
            <a:spLocks noGrp="1"/>
          </p:cNvSpPr>
          <p:nvPr>
            <p:ph type="title"/>
          </p:nvPr>
        </p:nvSpPr>
        <p:spPr>
          <a:xfrm>
            <a:off x="838200" y="1"/>
            <a:ext cx="10515600" cy="1690688"/>
          </a:xfrm>
        </p:spPr>
        <p:txBody>
          <a:bodyPr/>
          <a:lstStyle/>
          <a:p>
            <a:r>
              <a:rPr lang="en-US" dirty="0"/>
              <a:t>Analyze/ Report – LR Model with Age (Raw)</a:t>
            </a:r>
          </a:p>
        </p:txBody>
      </p:sp>
      <p:sp>
        <p:nvSpPr>
          <p:cNvPr id="3" name="Content Placeholder 2">
            <a:extLst>
              <a:ext uri="{FF2B5EF4-FFF2-40B4-BE49-F238E27FC236}">
                <a16:creationId xmlns:a16="http://schemas.microsoft.com/office/drawing/2014/main" id="{0BA18E20-760C-E8E0-93D5-8144427421CA}"/>
              </a:ext>
            </a:extLst>
          </p:cNvPr>
          <p:cNvSpPr>
            <a:spLocks noGrp="1"/>
          </p:cNvSpPr>
          <p:nvPr>
            <p:ph idx="1"/>
          </p:nvPr>
        </p:nvSpPr>
        <p:spPr>
          <a:xfrm>
            <a:off x="838200" y="1343025"/>
            <a:ext cx="10515600" cy="5334000"/>
          </a:xfrm>
        </p:spPr>
        <p:txBody>
          <a:bodyPr>
            <a:normAutofit/>
          </a:bodyPr>
          <a:lstStyle/>
          <a:p>
            <a:pPr marL="0" indent="0">
              <a:buNone/>
            </a:pPr>
            <a:r>
              <a:rPr lang="en-US" sz="2200" b="1" dirty="0">
                <a:solidFill>
                  <a:srgbClr val="000000"/>
                </a:solidFill>
                <a:latin typeface="Cambria Math" panose="02040503050406030204" pitchFamily="18" charset="0"/>
                <a:ea typeface="Cambria Math" panose="02040503050406030204" pitchFamily="18" charset="0"/>
              </a:rPr>
              <a:t>HeartDisease</a:t>
            </a:r>
            <a:r>
              <a:rPr lang="en-US" sz="1800" b="1" dirty="0">
                <a:solidFill>
                  <a:srgbClr val="000000"/>
                </a:solidFill>
                <a:latin typeface="Cambria Math" panose="02040503050406030204" pitchFamily="18" charset="0"/>
                <a:ea typeface="Cambria Math" panose="02040503050406030204" pitchFamily="18" charset="0"/>
              </a:rPr>
              <a:t> </a:t>
            </a:r>
            <a:r>
              <a:rPr lang="en-US" sz="1800" dirty="0">
                <a:solidFill>
                  <a:srgbClr val="000000"/>
                </a:solidFill>
                <a:latin typeface="Cambria Math" panose="02040503050406030204" pitchFamily="18" charset="0"/>
                <a:ea typeface="Cambria Math" panose="02040503050406030204" pitchFamily="18" charset="0"/>
              </a:rPr>
              <a:t>= 1 / (1 + e^-(0.6687 × </a:t>
            </a:r>
            <a:r>
              <a:rPr lang="en-US" sz="1700" b="1" dirty="0">
                <a:latin typeface="Cambria Math" panose="02040503050406030204" pitchFamily="18" charset="0"/>
                <a:ea typeface="Cambria Math" panose="02040503050406030204" pitchFamily="18" charset="0"/>
              </a:rPr>
              <a:t>Cholesterol </a:t>
            </a:r>
            <a:r>
              <a:rPr lang="en-US" sz="1800" dirty="0">
                <a:solidFill>
                  <a:srgbClr val="000000"/>
                </a:solidFill>
                <a:latin typeface="Cambria Math" panose="02040503050406030204" pitchFamily="18" charset="0"/>
                <a:ea typeface="Cambria Math" panose="02040503050406030204" pitchFamily="18" charset="0"/>
              </a:rPr>
              <a:t>- 3.1501 × </a:t>
            </a:r>
            <a:r>
              <a:rPr lang="en-US" sz="1700" b="1" dirty="0">
                <a:solidFill>
                  <a:srgbClr val="000000"/>
                </a:solidFill>
                <a:latin typeface="Cambria Math" panose="02040503050406030204" pitchFamily="18" charset="0"/>
                <a:ea typeface="Cambria Math" panose="02040503050406030204" pitchFamily="18" charset="0"/>
              </a:rPr>
              <a:t>MaxHR</a:t>
            </a:r>
            <a:r>
              <a:rPr lang="en-US" sz="1800" dirty="0">
                <a:solidFill>
                  <a:srgbClr val="000000"/>
                </a:solidFill>
                <a:latin typeface="Cambria Math" panose="02040503050406030204" pitchFamily="18" charset="0"/>
                <a:ea typeface="Cambria Math" panose="02040503050406030204" pitchFamily="18" charset="0"/>
              </a:rPr>
              <a:t>+ 4.6872 × </a:t>
            </a:r>
            <a:r>
              <a:rPr lang="en-US" sz="1700" b="1" dirty="0">
                <a:solidFill>
                  <a:srgbClr val="000000"/>
                </a:solidFill>
                <a:latin typeface="Cambria Math" panose="02040503050406030204" pitchFamily="18" charset="0"/>
                <a:ea typeface="Cambria Math" panose="02040503050406030204" pitchFamily="18" charset="0"/>
              </a:rPr>
              <a:t>Oldpeak</a:t>
            </a:r>
            <a:r>
              <a:rPr lang="en-US" sz="1800" dirty="0">
                <a:solidFill>
                  <a:srgbClr val="000000"/>
                </a:solidFill>
                <a:latin typeface="Cambria Math" panose="02040503050406030204" pitchFamily="18" charset="0"/>
                <a:ea typeface="Cambria Math" panose="02040503050406030204" pitchFamily="18" charset="0"/>
              </a:rPr>
              <a:t>+ β₀ + βAge))</a:t>
            </a:r>
          </a:p>
          <a:p>
            <a:pPr marL="0" indent="0">
              <a:buNone/>
            </a:pPr>
            <a:endParaRPr lang="en-US" sz="1800" dirty="0"/>
          </a:p>
          <a:p>
            <a:pPr marL="0" indent="0">
              <a:buNone/>
            </a:pPr>
            <a:r>
              <a:rPr lang="en-US" sz="1800" dirty="0"/>
              <a:t>The model accuracy = 77% </a:t>
            </a:r>
          </a:p>
          <a:p>
            <a:pPr marL="0" indent="0">
              <a:buNone/>
            </a:pPr>
            <a:r>
              <a:rPr lang="en-US" sz="1800" dirty="0"/>
              <a:t>AUC-ROC = 0.8563, meaning stronger classification performance.</a:t>
            </a:r>
          </a:p>
          <a:p>
            <a:pPr marL="0" indent="0">
              <a:buNone/>
            </a:pPr>
            <a:r>
              <a:rPr lang="en-US" sz="1800" dirty="0"/>
              <a:t>Precision is 0.83 for heart disease (class 1) and 0.71 for non-heart disease (class 0)</a:t>
            </a:r>
          </a:p>
          <a:p>
            <a:pPr marL="0" indent="0">
              <a:buNone/>
            </a:pPr>
            <a:r>
              <a:rPr lang="en-US" sz="1800" dirty="0"/>
              <a:t>Recall is 0.70 for class 1 and 0.85 for class 0. </a:t>
            </a:r>
          </a:p>
          <a:p>
            <a:pPr marL="0" indent="0">
              <a:buNone/>
            </a:pPr>
            <a:r>
              <a:rPr lang="en-US" sz="1800" dirty="0"/>
              <a:t>F1-scores are balanced at 0.76 and 0.77, respectively. </a:t>
            </a:r>
          </a:p>
          <a:p>
            <a:pPr marL="0" indent="0">
              <a:buNone/>
            </a:pPr>
            <a:endParaRPr lang="en-US" sz="1800" dirty="0"/>
          </a:p>
          <a:p>
            <a:pPr marL="0" indent="0">
              <a:buNone/>
            </a:pPr>
            <a:r>
              <a:rPr lang="en-US" sz="1800" b="1" dirty="0"/>
              <a:t>Predictor Interpretation: </a:t>
            </a:r>
          </a:p>
          <a:p>
            <a:pPr marL="0" indent="0">
              <a:buNone/>
            </a:pPr>
            <a:r>
              <a:rPr lang="en-US" sz="1800" b="1" dirty="0"/>
              <a:t>Oldpeak: </a:t>
            </a:r>
            <a:r>
              <a:rPr lang="en-US" sz="1800" dirty="0"/>
              <a:t>Each 1 mm increase of</a:t>
            </a:r>
            <a:r>
              <a:rPr lang="en-US" sz="1800" b="1" dirty="0"/>
              <a:t> ST=segment depression (Oldpeak)</a:t>
            </a:r>
            <a:r>
              <a:rPr lang="en-US" sz="1800" dirty="0"/>
              <a:t> increases the odds of </a:t>
            </a:r>
            <a:r>
              <a:rPr lang="en-US" sz="1800" b="1" dirty="0"/>
              <a:t>Heart Disease </a:t>
            </a:r>
            <a:r>
              <a:rPr lang="en-US" sz="1800" dirty="0"/>
              <a:t>by 123%.</a:t>
            </a:r>
          </a:p>
          <a:p>
            <a:pPr marL="0" indent="0">
              <a:buNone/>
            </a:pPr>
            <a:r>
              <a:rPr lang="en-US" sz="1800" b="1" dirty="0"/>
              <a:t>MaxHR</a:t>
            </a:r>
            <a:r>
              <a:rPr lang="en-US" sz="1800" dirty="0"/>
              <a:t>: Each extra beat reduces the odds of </a:t>
            </a:r>
            <a:r>
              <a:rPr lang="en-US" sz="1800" b="1" dirty="0"/>
              <a:t>Heart Disease </a:t>
            </a:r>
            <a:r>
              <a:rPr lang="en-US" sz="1800" dirty="0"/>
              <a:t>by ≈2%</a:t>
            </a:r>
          </a:p>
          <a:p>
            <a:pPr marL="0" indent="0">
              <a:buNone/>
            </a:pPr>
            <a:r>
              <a:rPr lang="en-US" sz="1800" b="1" dirty="0"/>
              <a:t>Cholesterol: </a:t>
            </a:r>
            <a:r>
              <a:rPr lang="en-US" sz="1800" dirty="0"/>
              <a:t>Each 1 mg/dl increase in Cholesterol increases odds of </a:t>
            </a:r>
            <a:r>
              <a:rPr lang="en-US" sz="1800" b="1" dirty="0"/>
              <a:t>Heart Disease </a:t>
            </a:r>
            <a:r>
              <a:rPr lang="en-US" sz="1800" dirty="0"/>
              <a:t>by 0.3%</a:t>
            </a:r>
          </a:p>
          <a:p>
            <a:pPr marL="0" indent="0">
              <a:buNone/>
            </a:pPr>
            <a:r>
              <a:rPr lang="en-US" sz="1800" b="1" dirty="0">
                <a:solidFill>
                  <a:srgbClr val="000000"/>
                </a:solidFill>
                <a:effectLst/>
                <a:latin typeface="Times New Roman" panose="02020603050405020304" pitchFamily="18" charset="0"/>
                <a:ea typeface="Times New Roman" panose="02020603050405020304" pitchFamily="18" charset="0"/>
              </a:rPr>
              <a:t>Age: </a:t>
            </a:r>
            <a:r>
              <a:rPr lang="en-US" sz="1800" dirty="0">
                <a:solidFill>
                  <a:srgbClr val="000000"/>
                </a:solidFill>
                <a:effectLst/>
                <a:latin typeface="Times New Roman" panose="02020603050405020304" pitchFamily="18" charset="0"/>
                <a:ea typeface="Times New Roman" panose="02020603050405020304" pitchFamily="18" charset="0"/>
              </a:rPr>
              <a:t>Each 1-year increase multiples odds of </a:t>
            </a:r>
            <a:r>
              <a:rPr lang="en-US" sz="1800" b="1" dirty="0">
                <a:solidFill>
                  <a:srgbClr val="000000"/>
                </a:solidFill>
                <a:effectLst/>
                <a:latin typeface="Times New Roman" panose="02020603050405020304" pitchFamily="18" charset="0"/>
                <a:ea typeface="Times New Roman" panose="02020603050405020304" pitchFamily="18" charset="0"/>
              </a:rPr>
              <a:t>Heart </a:t>
            </a:r>
            <a:r>
              <a:rPr lang="en-US" sz="1800" b="1" dirty="0">
                <a:solidFill>
                  <a:srgbClr val="000000"/>
                </a:solidFill>
                <a:latin typeface="Times New Roman" panose="02020603050405020304" pitchFamily="18" charset="0"/>
                <a:ea typeface="Times New Roman" panose="02020603050405020304" pitchFamily="18" charset="0"/>
              </a:rPr>
              <a:t>D</a:t>
            </a:r>
            <a:r>
              <a:rPr lang="en-US" sz="1800" b="1" dirty="0">
                <a:solidFill>
                  <a:srgbClr val="000000"/>
                </a:solidFill>
                <a:effectLst/>
                <a:latin typeface="Times New Roman" panose="02020603050405020304" pitchFamily="18" charset="0"/>
                <a:ea typeface="Times New Roman" panose="02020603050405020304" pitchFamily="18" charset="0"/>
              </a:rPr>
              <a:t>isease </a:t>
            </a:r>
            <a:r>
              <a:rPr lang="en-US" sz="1800" dirty="0">
                <a:solidFill>
                  <a:srgbClr val="000000"/>
                </a:solidFill>
                <a:effectLst/>
                <a:latin typeface="Times New Roman" panose="02020603050405020304" pitchFamily="18" charset="0"/>
                <a:ea typeface="Times New Roman" panose="02020603050405020304" pitchFamily="18" charset="0"/>
              </a:rPr>
              <a:t>by 5%</a:t>
            </a:r>
          </a:p>
          <a:p>
            <a:endParaRPr lang="en-US" dirty="0"/>
          </a:p>
        </p:txBody>
      </p:sp>
    </p:spTree>
    <p:extLst>
      <p:ext uri="{BB962C8B-B14F-4D97-AF65-F5344CB8AC3E}">
        <p14:creationId xmlns:p14="http://schemas.microsoft.com/office/powerpoint/2010/main" val="27607762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38738-8F4F-E525-9B5A-358170B95A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43604B-84EA-2301-0FA7-4183E72A8122}"/>
              </a:ext>
            </a:extLst>
          </p:cNvPr>
          <p:cNvSpPr>
            <a:spLocks noGrp="1"/>
          </p:cNvSpPr>
          <p:nvPr>
            <p:ph type="title"/>
          </p:nvPr>
        </p:nvSpPr>
        <p:spPr>
          <a:xfrm>
            <a:off x="838200" y="1"/>
            <a:ext cx="10515600" cy="1690688"/>
          </a:xfrm>
        </p:spPr>
        <p:txBody>
          <a:bodyPr/>
          <a:lstStyle/>
          <a:p>
            <a:r>
              <a:rPr lang="en-US" dirty="0"/>
              <a:t>Analyze/ Report – SVM Model (Normalized)</a:t>
            </a:r>
          </a:p>
        </p:txBody>
      </p:sp>
      <p:sp>
        <p:nvSpPr>
          <p:cNvPr id="3" name="Content Placeholder 2">
            <a:extLst>
              <a:ext uri="{FF2B5EF4-FFF2-40B4-BE49-F238E27FC236}">
                <a16:creationId xmlns:a16="http://schemas.microsoft.com/office/drawing/2014/main" id="{0EA47CA1-AA14-A753-6A54-AA2446346059}"/>
              </a:ext>
            </a:extLst>
          </p:cNvPr>
          <p:cNvSpPr>
            <a:spLocks noGrp="1"/>
          </p:cNvSpPr>
          <p:nvPr>
            <p:ph idx="1"/>
          </p:nvPr>
        </p:nvSpPr>
        <p:spPr>
          <a:xfrm>
            <a:off x="838200" y="1343025"/>
            <a:ext cx="10515600" cy="5334000"/>
          </a:xfrm>
        </p:spPr>
        <p:txBody>
          <a:bodyPr>
            <a:normAutofit fontScale="92500" lnSpcReduction="10000"/>
          </a:bodyPr>
          <a:lstStyle/>
          <a:p>
            <a:r>
              <a:rPr lang="en-US" dirty="0"/>
              <a:t>Accuracy: 0.64, indicating the model correctly classifies 64 % of cases.</a:t>
            </a:r>
          </a:p>
          <a:p>
            <a:r>
              <a:rPr lang="en-US" dirty="0"/>
              <a:t>AUC-ROC: 0.68, showing only modest separation between heart-disease and non-disease groups.</a:t>
            </a:r>
          </a:p>
          <a:p>
            <a:r>
              <a:rPr lang="en-US" dirty="0"/>
              <a:t>Class 0 (No HD): precision = 0.60, recall = 0.69, F1-score = 0.64.</a:t>
            </a:r>
          </a:p>
          <a:p>
            <a:r>
              <a:rPr lang="en-US" dirty="0"/>
              <a:t>Class 1 (HD): precision = 0.68, recall = 0.59, F1-score = 0.64.</a:t>
            </a:r>
          </a:p>
          <a:p>
            <a:r>
              <a:rPr lang="en-US" dirty="0"/>
              <a:t>Macro-averaged precision/recall/F1: ALL 0.64, balanced but low performance across classes.</a:t>
            </a:r>
          </a:p>
          <a:p>
            <a:r>
              <a:rPr lang="en-US" dirty="0"/>
              <a:t>Weighted-avg precision = 0.65, recall = 0.64, F1-score = 0.64, yielding class support.</a:t>
            </a:r>
          </a:p>
          <a:p>
            <a:r>
              <a:rPr lang="en-US" dirty="0"/>
              <a:t>Compared to logistic regression (AUC ≈ 0.85, accuracy = 0.77) and random forest (AUC ≈ 0.79, accuracy = 0.72) thus SVM underperforms. Possibly due to the RBF decision boundary may not capture the underlying feature relationships as completely. </a:t>
            </a:r>
          </a:p>
        </p:txBody>
      </p:sp>
    </p:spTree>
    <p:extLst>
      <p:ext uri="{BB962C8B-B14F-4D97-AF65-F5344CB8AC3E}">
        <p14:creationId xmlns:p14="http://schemas.microsoft.com/office/powerpoint/2010/main" val="39134328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656D1-9701-A414-EFAC-5F2801F7B0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9D511E-A0D9-1FEF-51D0-CC9E9CC7BC91}"/>
              </a:ext>
            </a:extLst>
          </p:cNvPr>
          <p:cNvSpPr>
            <a:spLocks noGrp="1"/>
          </p:cNvSpPr>
          <p:nvPr>
            <p:ph type="title"/>
          </p:nvPr>
        </p:nvSpPr>
        <p:spPr>
          <a:xfrm>
            <a:off x="838200" y="1"/>
            <a:ext cx="10515600" cy="1690688"/>
          </a:xfrm>
        </p:spPr>
        <p:txBody>
          <a:bodyPr/>
          <a:lstStyle/>
          <a:p>
            <a:r>
              <a:rPr lang="en-US" dirty="0"/>
              <a:t>Analyze/ Report – Random Forest (Raw)</a:t>
            </a:r>
          </a:p>
        </p:txBody>
      </p:sp>
      <p:sp>
        <p:nvSpPr>
          <p:cNvPr id="3" name="Content Placeholder 2">
            <a:extLst>
              <a:ext uri="{FF2B5EF4-FFF2-40B4-BE49-F238E27FC236}">
                <a16:creationId xmlns:a16="http://schemas.microsoft.com/office/drawing/2014/main" id="{03BFA368-C2D9-F528-93C7-CD80E2E9FA5F}"/>
              </a:ext>
            </a:extLst>
          </p:cNvPr>
          <p:cNvSpPr>
            <a:spLocks noGrp="1"/>
          </p:cNvSpPr>
          <p:nvPr>
            <p:ph idx="1"/>
          </p:nvPr>
        </p:nvSpPr>
        <p:spPr>
          <a:xfrm>
            <a:off x="838200" y="1343025"/>
            <a:ext cx="10515600" cy="5334000"/>
          </a:xfrm>
        </p:spPr>
        <p:txBody>
          <a:bodyPr>
            <a:normAutofit/>
          </a:bodyPr>
          <a:lstStyle/>
          <a:p>
            <a:r>
              <a:rPr lang="en-US" dirty="0"/>
              <a:t> Accuracy: 0.72 meaning it correctly classifies 72% of cases.</a:t>
            </a:r>
          </a:p>
          <a:p>
            <a:r>
              <a:rPr lang="en-US" dirty="0"/>
              <a:t>AUC-ROC: 0.79 yields a strong ability to distinguish between heart disease and non-disease.</a:t>
            </a:r>
          </a:p>
          <a:p>
            <a:r>
              <a:rPr lang="en-US" dirty="0"/>
              <a:t>Class 0 (No HD): precision = 0.68, recall = 0.77, F1-score = 0.72.</a:t>
            </a:r>
          </a:p>
          <a:p>
            <a:r>
              <a:rPr lang="en-US" dirty="0"/>
              <a:t>Class 1 (HD): precision = 0.77, recall = 0.67, F1-score = 0.72.</a:t>
            </a:r>
          </a:p>
          <a:p>
            <a:r>
              <a:rPr lang="en-US" dirty="0"/>
              <a:t>Macro averages: precision, recall, and F1-score all = 0.72; Balanced performance across classes.</a:t>
            </a:r>
          </a:p>
          <a:p>
            <a:r>
              <a:rPr lang="en-US" dirty="0"/>
              <a:t>Weighted averages: precision = 0.73, recall = 0.72, F1-score = 0.72 — accounts for class distribution.</a:t>
            </a:r>
          </a:p>
          <a:p>
            <a:r>
              <a:rPr lang="en-US" dirty="0"/>
              <a:t>Compared to SVM: Random Forest shows stronger generalization and better class separation (AUC +0.11, accuracy +0.08).</a:t>
            </a:r>
          </a:p>
        </p:txBody>
      </p:sp>
    </p:spTree>
    <p:extLst>
      <p:ext uri="{BB962C8B-B14F-4D97-AF65-F5344CB8AC3E}">
        <p14:creationId xmlns:p14="http://schemas.microsoft.com/office/powerpoint/2010/main" val="16776653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6E5DA-F612-81B3-E7D6-4ABBED828B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EEF516-E63E-9972-23E8-39CE825820C2}"/>
              </a:ext>
            </a:extLst>
          </p:cNvPr>
          <p:cNvSpPr>
            <a:spLocks noGrp="1"/>
          </p:cNvSpPr>
          <p:nvPr>
            <p:ph type="title"/>
          </p:nvPr>
        </p:nvSpPr>
        <p:spPr>
          <a:xfrm>
            <a:off x="838200" y="-304799"/>
            <a:ext cx="10515600" cy="1690688"/>
          </a:xfrm>
        </p:spPr>
        <p:txBody>
          <a:bodyPr/>
          <a:lstStyle/>
          <a:p>
            <a:r>
              <a:rPr lang="en-US" dirty="0"/>
              <a:t>Report/Act – Random Forest(Raw)</a:t>
            </a:r>
          </a:p>
        </p:txBody>
      </p:sp>
      <p:pic>
        <p:nvPicPr>
          <p:cNvPr id="5" name="Picture 4">
            <a:extLst>
              <a:ext uri="{FF2B5EF4-FFF2-40B4-BE49-F238E27FC236}">
                <a16:creationId xmlns:a16="http://schemas.microsoft.com/office/drawing/2014/main" id="{95AE8A24-503A-B228-6300-041A0D129D37}"/>
              </a:ext>
            </a:extLst>
          </p:cNvPr>
          <p:cNvPicPr>
            <a:picLocks noChangeAspect="1"/>
          </p:cNvPicPr>
          <p:nvPr/>
        </p:nvPicPr>
        <p:blipFill>
          <a:blip r:embed="rId2"/>
          <a:stretch>
            <a:fillRect/>
          </a:stretch>
        </p:blipFill>
        <p:spPr>
          <a:xfrm>
            <a:off x="838200" y="1209674"/>
            <a:ext cx="8718741" cy="5293787"/>
          </a:xfrm>
          <a:prstGeom prst="rect">
            <a:avLst/>
          </a:prstGeom>
        </p:spPr>
      </p:pic>
    </p:spTree>
    <p:extLst>
      <p:ext uri="{BB962C8B-B14F-4D97-AF65-F5344CB8AC3E}">
        <p14:creationId xmlns:p14="http://schemas.microsoft.com/office/powerpoint/2010/main" val="11963809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F487A-6C43-3643-C3D7-C6934FAEDC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E0D56D-AD76-324D-9583-DB7C8E6C8B42}"/>
              </a:ext>
            </a:extLst>
          </p:cNvPr>
          <p:cNvSpPr>
            <a:spLocks noGrp="1"/>
          </p:cNvSpPr>
          <p:nvPr>
            <p:ph type="title"/>
          </p:nvPr>
        </p:nvSpPr>
        <p:spPr>
          <a:xfrm>
            <a:off x="838200" y="481264"/>
            <a:ext cx="4199021" cy="625641"/>
          </a:xfrm>
        </p:spPr>
        <p:txBody>
          <a:bodyPr>
            <a:normAutofit fontScale="90000"/>
          </a:bodyPr>
          <a:lstStyle/>
          <a:p>
            <a:r>
              <a:rPr lang="en-US" dirty="0"/>
              <a:t>Report/Act</a:t>
            </a:r>
          </a:p>
        </p:txBody>
      </p:sp>
      <p:sp>
        <p:nvSpPr>
          <p:cNvPr id="6" name="TextBox 5">
            <a:extLst>
              <a:ext uri="{FF2B5EF4-FFF2-40B4-BE49-F238E27FC236}">
                <a16:creationId xmlns:a16="http://schemas.microsoft.com/office/drawing/2014/main" id="{A1B5FAEA-689F-EA1E-CFEA-80CC0BAC5D37}"/>
              </a:ext>
            </a:extLst>
          </p:cNvPr>
          <p:cNvSpPr txBox="1"/>
          <p:nvPr/>
        </p:nvSpPr>
        <p:spPr>
          <a:xfrm>
            <a:off x="161125" y="1225689"/>
            <a:ext cx="5321969" cy="4093428"/>
          </a:xfrm>
          <a:prstGeom prst="rect">
            <a:avLst/>
          </a:prstGeom>
          <a:noFill/>
        </p:spPr>
        <p:txBody>
          <a:bodyPr wrap="square" rtlCol="0">
            <a:spAutoFit/>
          </a:bodyPr>
          <a:lstStyle/>
          <a:p>
            <a:r>
              <a:rPr lang="en-US" sz="2000" b="1" dirty="0"/>
              <a:t>Model Performance</a:t>
            </a:r>
            <a:r>
              <a:rPr lang="en-US" sz="2000" dirty="0"/>
              <a:t>: </a:t>
            </a:r>
          </a:p>
          <a:p>
            <a:r>
              <a:rPr lang="en-US" sz="1600" b="1" dirty="0"/>
              <a:t>Logistic Regression </a:t>
            </a:r>
            <a:r>
              <a:rPr lang="en-US" sz="1600" dirty="0"/>
              <a:t>(AUC = 0.85): Strongest discrimination among the classical baselines shows a balanced trade-off between sensitivity and specificity. Linear boundary on the normalized features captures much of the predictive signal. Relatively few false positives even at higher true positive rates.</a:t>
            </a:r>
          </a:p>
          <a:p>
            <a:r>
              <a:rPr lang="en-US" sz="1600" b="1" dirty="0"/>
              <a:t>SVM </a:t>
            </a:r>
            <a:r>
              <a:rPr lang="en-US" sz="1600" dirty="0"/>
              <a:t>(AUC = 0.83):  Nonlinear separation by projecting into a high-dimensional feature space, but its curve sits just below logistic regressions at low false positive rates—yields slightly more false alarms as sensitivity increases.</a:t>
            </a:r>
          </a:p>
          <a:p>
            <a:r>
              <a:rPr lang="en-US" sz="1600" b="1" dirty="0"/>
              <a:t>Random Forest </a:t>
            </a:r>
            <a:r>
              <a:rPr lang="en-US" sz="1600" dirty="0"/>
              <a:t>(AUC = 0.77): Lowest Ranking of 3, indicating it struggles more to distinguish classes across thresholds. Its bagged-tree structure may underfit subtle feature interactions - lower true positive rates for any fixed false positive rate compared to LR and SVM</a:t>
            </a:r>
          </a:p>
        </p:txBody>
      </p:sp>
      <p:pic>
        <p:nvPicPr>
          <p:cNvPr id="1030" name="Picture 6">
            <a:extLst>
              <a:ext uri="{FF2B5EF4-FFF2-40B4-BE49-F238E27FC236}">
                <a16:creationId xmlns:a16="http://schemas.microsoft.com/office/drawing/2014/main" id="{69F496D2-C88C-63E3-A696-D39E5E17A1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3094" y="869950"/>
            <a:ext cx="6708905" cy="4997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53081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804DA-F566-9B3C-A2EA-E08BE7DECB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2457F9-1CD9-7508-168C-87188EB9C5A0}"/>
              </a:ext>
            </a:extLst>
          </p:cNvPr>
          <p:cNvSpPr>
            <a:spLocks noGrp="1"/>
          </p:cNvSpPr>
          <p:nvPr>
            <p:ph type="title"/>
          </p:nvPr>
        </p:nvSpPr>
        <p:spPr>
          <a:xfrm>
            <a:off x="838200" y="481264"/>
            <a:ext cx="10515600" cy="1690688"/>
          </a:xfrm>
        </p:spPr>
        <p:txBody>
          <a:bodyPr>
            <a:normAutofit/>
          </a:bodyPr>
          <a:lstStyle/>
          <a:p>
            <a:r>
              <a:rPr lang="en-US" sz="3600" b="1" dirty="0"/>
              <a:t>Report/Act </a:t>
            </a:r>
            <a:r>
              <a:rPr lang="en-US" b="1" dirty="0"/>
              <a:t>– </a:t>
            </a:r>
            <a:r>
              <a:rPr lang="en-US" sz="3100" b="1" dirty="0"/>
              <a:t>LR-Hyperparameter Tuning, Gradient Boosting, XG Boost, FF Neural Network, &amp; LSTM Neural Network</a:t>
            </a:r>
            <a:r>
              <a:rPr lang="en-US" b="1" dirty="0"/>
              <a:t> </a:t>
            </a:r>
          </a:p>
        </p:txBody>
      </p:sp>
      <p:pic>
        <p:nvPicPr>
          <p:cNvPr id="4" name="Picture 3">
            <a:extLst>
              <a:ext uri="{FF2B5EF4-FFF2-40B4-BE49-F238E27FC236}">
                <a16:creationId xmlns:a16="http://schemas.microsoft.com/office/drawing/2014/main" id="{2170F22F-BB69-0CD8-7449-A181A4A13ED7}"/>
              </a:ext>
            </a:extLst>
          </p:cNvPr>
          <p:cNvPicPr>
            <a:picLocks noChangeAspect="1"/>
          </p:cNvPicPr>
          <p:nvPr/>
        </p:nvPicPr>
        <p:blipFill>
          <a:blip r:embed="rId2"/>
          <a:stretch>
            <a:fillRect/>
          </a:stretch>
        </p:blipFill>
        <p:spPr>
          <a:xfrm>
            <a:off x="838200" y="2339824"/>
            <a:ext cx="10933100" cy="3620547"/>
          </a:xfrm>
          <a:prstGeom prst="rect">
            <a:avLst/>
          </a:prstGeom>
        </p:spPr>
      </p:pic>
    </p:spTree>
    <p:extLst>
      <p:ext uri="{BB962C8B-B14F-4D97-AF65-F5344CB8AC3E}">
        <p14:creationId xmlns:p14="http://schemas.microsoft.com/office/powerpoint/2010/main" val="20123608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7C687-9727-F31D-5D93-B73964FDA0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A50BCD-0294-F105-9903-8C1674878873}"/>
              </a:ext>
            </a:extLst>
          </p:cNvPr>
          <p:cNvSpPr>
            <a:spLocks noGrp="1"/>
          </p:cNvSpPr>
          <p:nvPr>
            <p:ph type="title"/>
          </p:nvPr>
        </p:nvSpPr>
        <p:spPr>
          <a:xfrm>
            <a:off x="838200" y="481264"/>
            <a:ext cx="4199021" cy="625641"/>
          </a:xfrm>
        </p:spPr>
        <p:txBody>
          <a:bodyPr>
            <a:normAutofit fontScale="90000"/>
          </a:bodyPr>
          <a:lstStyle/>
          <a:p>
            <a:r>
              <a:rPr lang="en-US" dirty="0"/>
              <a:t>Report/Act</a:t>
            </a:r>
          </a:p>
        </p:txBody>
      </p:sp>
      <p:sp>
        <p:nvSpPr>
          <p:cNvPr id="6" name="TextBox 5">
            <a:extLst>
              <a:ext uri="{FF2B5EF4-FFF2-40B4-BE49-F238E27FC236}">
                <a16:creationId xmlns:a16="http://schemas.microsoft.com/office/drawing/2014/main" id="{28FCA6A5-D141-C3A8-BB67-6E27DA1B672A}"/>
              </a:ext>
            </a:extLst>
          </p:cNvPr>
          <p:cNvSpPr txBox="1"/>
          <p:nvPr/>
        </p:nvSpPr>
        <p:spPr>
          <a:xfrm>
            <a:off x="276725" y="1582340"/>
            <a:ext cx="5321969" cy="3693319"/>
          </a:xfrm>
          <a:prstGeom prst="rect">
            <a:avLst/>
          </a:prstGeom>
          <a:noFill/>
        </p:spPr>
        <p:txBody>
          <a:bodyPr wrap="square" rtlCol="0">
            <a:spAutoFit/>
          </a:bodyPr>
          <a:lstStyle/>
          <a:p>
            <a:r>
              <a:rPr lang="en-US" dirty="0"/>
              <a:t>Model Performance: </a:t>
            </a:r>
          </a:p>
          <a:p>
            <a:r>
              <a:rPr lang="en-US" b="1" dirty="0"/>
              <a:t>LSTM</a:t>
            </a:r>
            <a:r>
              <a:rPr lang="en-US" dirty="0"/>
              <a:t> (AUC = 0.85): Highest discrimination- yields the best balance of sensitivity and specificity.</a:t>
            </a:r>
          </a:p>
          <a:p>
            <a:r>
              <a:rPr lang="en-US" b="1" dirty="0"/>
              <a:t>Gradient Boosting </a:t>
            </a:r>
            <a:r>
              <a:rPr lang="en-US" dirty="0"/>
              <a:t>(AUC = 0.84): Close to the LSTM, with slightly lower true positive rates at low false positive rates.</a:t>
            </a:r>
          </a:p>
          <a:p>
            <a:r>
              <a:rPr lang="en-US" b="1" dirty="0"/>
              <a:t>Neural Network </a:t>
            </a:r>
            <a:r>
              <a:rPr lang="en-US" dirty="0"/>
              <a:t>(AUC = 0.82): Performance seen - though its curve dips below the two tree-based models at moderate FPR.</a:t>
            </a:r>
          </a:p>
          <a:p>
            <a:r>
              <a:rPr lang="en-US" b="1" dirty="0" err="1"/>
              <a:t>XGBoost</a:t>
            </a:r>
            <a:r>
              <a:rPr lang="en-US" dirty="0"/>
              <a:t> (AUC = 0.79): Weakest of the 4, indicating it makes more mistakes distinguishing classes across thresholds</a:t>
            </a:r>
          </a:p>
          <a:p>
            <a:endParaRPr lang="en-US" dirty="0"/>
          </a:p>
        </p:txBody>
      </p:sp>
      <p:pic>
        <p:nvPicPr>
          <p:cNvPr id="1026" name="Picture 2">
            <a:extLst>
              <a:ext uri="{FF2B5EF4-FFF2-40B4-BE49-F238E27FC236}">
                <a16:creationId xmlns:a16="http://schemas.microsoft.com/office/drawing/2014/main" id="{5ED00C49-2292-043E-8777-7755C51BC0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93833" y="791169"/>
            <a:ext cx="6621442" cy="52756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42519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8C1A2-E365-4EAD-A777-10EF9BD2588C}"/>
              </a:ext>
            </a:extLst>
          </p:cNvPr>
          <p:cNvSpPr>
            <a:spLocks noGrp="1"/>
          </p:cNvSpPr>
          <p:nvPr>
            <p:ph type="title"/>
          </p:nvPr>
        </p:nvSpPr>
        <p:spPr>
          <a:xfrm>
            <a:off x="838200" y="18255"/>
            <a:ext cx="10515600" cy="1325563"/>
          </a:xfrm>
        </p:spPr>
        <p:txBody>
          <a:bodyPr/>
          <a:lstStyle/>
          <a:p>
            <a:r>
              <a:rPr lang="en-US" dirty="0"/>
              <a:t>Report/Act</a:t>
            </a:r>
          </a:p>
        </p:txBody>
      </p:sp>
      <p:sp>
        <p:nvSpPr>
          <p:cNvPr id="3" name="Content Placeholder 2">
            <a:extLst>
              <a:ext uri="{FF2B5EF4-FFF2-40B4-BE49-F238E27FC236}">
                <a16:creationId xmlns:a16="http://schemas.microsoft.com/office/drawing/2014/main" id="{83DC0D0A-FDCC-4561-A8EB-1F836A94AACC}"/>
              </a:ext>
            </a:extLst>
          </p:cNvPr>
          <p:cNvSpPr>
            <a:spLocks noGrp="1"/>
          </p:cNvSpPr>
          <p:nvPr>
            <p:ph idx="1"/>
          </p:nvPr>
        </p:nvSpPr>
        <p:spPr>
          <a:xfrm>
            <a:off x="838200" y="1295400"/>
            <a:ext cx="10515600" cy="5257800"/>
          </a:xfrm>
        </p:spPr>
        <p:txBody>
          <a:bodyPr>
            <a:normAutofit fontScale="92500" lnSpcReduction="10000"/>
          </a:bodyPr>
          <a:lstStyle/>
          <a:p>
            <a:r>
              <a:rPr lang="en-US" sz="1800" dirty="0"/>
              <a:t>Across the extended set of eight models to include </a:t>
            </a:r>
            <a:r>
              <a:rPr lang="en-US" sz="1800" b="1" dirty="0"/>
              <a:t>Gradient Boosting, </a:t>
            </a:r>
            <a:r>
              <a:rPr lang="en-US" sz="1800" b="1" dirty="0" err="1"/>
              <a:t>XGBoost</a:t>
            </a:r>
            <a:r>
              <a:rPr lang="en-US" sz="1800" b="1" dirty="0"/>
              <a:t>, Neural Network, and LSTM - </a:t>
            </a:r>
            <a:r>
              <a:rPr lang="en-US" sz="1800" dirty="0"/>
              <a:t>there is a hierarchy emerging in both discrimination (AUC) and threshold-dependent metrics. Across all models, </a:t>
            </a:r>
            <a:r>
              <a:rPr lang="en-US" sz="1800" b="1" dirty="0"/>
              <a:t>logistic regression </a:t>
            </a:r>
            <a:r>
              <a:rPr lang="en-US" sz="1800" dirty="0"/>
              <a:t>still delivers the strongest discrimination between heart disease and non-heart disease cases (AUC ≈ 0.85) with overall accuracy around 0.76–0.77. Scaling the features has minimal impact: both normalized and raw-feature versions hit AUC ≈ 0.85, precision ≈ 0.81, and recall ≈ 0.65. The model errs more on missing true disease cases than on mislabeling healthy individuals. In contrast, </a:t>
            </a:r>
            <a:r>
              <a:rPr lang="en-US" sz="1800" b="1" dirty="0"/>
              <a:t>the Support Vector Machine </a:t>
            </a:r>
            <a:r>
              <a:rPr lang="en-US" sz="1800" dirty="0"/>
              <a:t>on normalized inputs underperforms relative to logistic regression (AUC = 0.68, accuracy = 0.64, precision ≈ 0.64, recall ≈ 0.64), as its simple linear boundary fails to capture dataset nonlinearities. </a:t>
            </a:r>
            <a:r>
              <a:rPr lang="en-US" sz="1800" b="1" dirty="0"/>
              <a:t>Random Forest </a:t>
            </a:r>
            <a:r>
              <a:rPr lang="en-US" sz="1800" dirty="0"/>
              <a:t>on raw features improves on </a:t>
            </a:r>
            <a:r>
              <a:rPr lang="en-US" sz="1800" b="1" dirty="0"/>
              <a:t>SVM</a:t>
            </a:r>
            <a:r>
              <a:rPr lang="en-US" sz="1800" dirty="0"/>
              <a:t> (AUC = 0.79, accuracy = 0.72) by leveraging nonlinear splits and feature interactions but still trails the logistic baseline in discrimination and yields fewer true positives at comparable false positive rates.</a:t>
            </a:r>
          </a:p>
          <a:p>
            <a:r>
              <a:rPr lang="en-US" sz="1800" b="1" dirty="0"/>
              <a:t>Gradient Boosting </a:t>
            </a:r>
            <a:r>
              <a:rPr lang="en-US" sz="1800" dirty="0"/>
              <a:t>strikes a strong balance across metrics, achieving AUC ≈ 0.84, accuracy = 0.77, precision ≈ 0.85, recall ≈ 0.64, and F1 ≈ 0.73. It matches </a:t>
            </a:r>
            <a:r>
              <a:rPr lang="en-US" sz="1800" b="1" dirty="0"/>
              <a:t>logistic regression </a:t>
            </a:r>
            <a:r>
              <a:rPr lang="en-US" sz="1800" dirty="0"/>
              <a:t>in accuracy, edges it out on precision, yet trades off a bit of sensitivity and its ROC curve sits just below the LSTM’s at low false positive rates. </a:t>
            </a:r>
            <a:r>
              <a:rPr lang="en-US" sz="1800" b="1" dirty="0" err="1"/>
              <a:t>XGBoost</a:t>
            </a:r>
            <a:r>
              <a:rPr lang="en-US" sz="1800" dirty="0"/>
              <a:t> mirrors Gradient Boosting on accuracy (0.77) but shifts the balance toward recall (≈ 0.67) at the expense of some precision (≈ 0.83), yielding the highest F1 score of the lot (≈ 0.74) despite a lower AUC (0.79). The </a:t>
            </a:r>
            <a:r>
              <a:rPr lang="en-US" sz="1800" b="1" dirty="0"/>
              <a:t>feed-forward Neural Network </a:t>
            </a:r>
            <a:r>
              <a:rPr lang="en-US" sz="1800" dirty="0"/>
              <a:t>(AUC ≈ 0.82) records lower overall performance (accuracy = 0.74, precision ≈ 0.78, recall ≈ 0.64, F1 ≈ 0.70), with its ROC dipping below both tree-based and recurrent models at moderate false positive rates—suggesting it underfits key feature interactions.</a:t>
            </a:r>
          </a:p>
          <a:p>
            <a:r>
              <a:rPr lang="en-US" sz="1800" dirty="0"/>
              <a:t>Finally, the </a:t>
            </a:r>
            <a:r>
              <a:rPr lang="en-US" sz="1800" b="1" dirty="0"/>
              <a:t>LSTM</a:t>
            </a:r>
            <a:r>
              <a:rPr lang="en-US" sz="1800" dirty="0"/>
              <a:t> achieves top-tier discrimination (AUC ≈ 0.85) with accuracy = 0.75, precision ≈ 0.80, recall ≈ 0.65, and F1 ≈ 0.72. It offers the best balance of sensitivity and specificity across thresholds, mirroring logistic regression’s high AUC but with slightly lower recall, and stands out among the complex models for its ability to capture sequential patterns in the data.</a:t>
            </a:r>
          </a:p>
        </p:txBody>
      </p:sp>
    </p:spTree>
    <p:extLst>
      <p:ext uri="{BB962C8B-B14F-4D97-AF65-F5344CB8AC3E}">
        <p14:creationId xmlns:p14="http://schemas.microsoft.com/office/powerpoint/2010/main" val="40241087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B94E5-5794-0557-4FAA-83C0D1F19C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3D7A24-A219-D961-01FE-FF031C748707}"/>
              </a:ext>
            </a:extLst>
          </p:cNvPr>
          <p:cNvSpPr>
            <a:spLocks noGrp="1"/>
          </p:cNvSpPr>
          <p:nvPr>
            <p:ph type="title"/>
          </p:nvPr>
        </p:nvSpPr>
        <p:spPr/>
        <p:txBody>
          <a:bodyPr/>
          <a:lstStyle/>
          <a:p>
            <a:r>
              <a:rPr lang="en-US" dirty="0"/>
              <a:t>Report/Act</a:t>
            </a:r>
          </a:p>
        </p:txBody>
      </p:sp>
      <p:sp>
        <p:nvSpPr>
          <p:cNvPr id="3" name="Content Placeholder 2">
            <a:extLst>
              <a:ext uri="{FF2B5EF4-FFF2-40B4-BE49-F238E27FC236}">
                <a16:creationId xmlns:a16="http://schemas.microsoft.com/office/drawing/2014/main" id="{0BAA9487-0AF6-FB87-819D-B42C4D1E3A3E}"/>
              </a:ext>
            </a:extLst>
          </p:cNvPr>
          <p:cNvSpPr>
            <a:spLocks noGrp="1"/>
          </p:cNvSpPr>
          <p:nvPr>
            <p:ph idx="1"/>
          </p:nvPr>
        </p:nvSpPr>
        <p:spPr>
          <a:xfrm>
            <a:off x="838200" y="1504950"/>
            <a:ext cx="10515600" cy="4672013"/>
          </a:xfrm>
        </p:spPr>
        <p:txBody>
          <a:bodyPr>
            <a:normAutofit fontScale="92500" lnSpcReduction="10000"/>
          </a:bodyPr>
          <a:lstStyle/>
          <a:p>
            <a:r>
              <a:rPr lang="en-US" sz="1800" dirty="0"/>
              <a:t>Examining both the logistic‐regression coefficients and random‐forest feature importances confirms that ST-segment depression (</a:t>
            </a:r>
            <a:r>
              <a:rPr lang="en-US" sz="1800" b="1" dirty="0"/>
              <a:t>Oldpeak</a:t>
            </a:r>
            <a:r>
              <a:rPr lang="en-US" sz="1800" dirty="0"/>
              <a:t>) is the single strongest predictor of </a:t>
            </a:r>
            <a:r>
              <a:rPr lang="en-US" sz="1800" b="1" dirty="0"/>
              <a:t>Heart Disease </a:t>
            </a:r>
            <a:r>
              <a:rPr lang="en-US" sz="1800" dirty="0"/>
              <a:t>risk, even when </a:t>
            </a:r>
            <a:r>
              <a:rPr lang="en-US" sz="1800" b="1" dirty="0"/>
              <a:t>Age</a:t>
            </a:r>
            <a:r>
              <a:rPr lang="en-US" sz="1800" dirty="0"/>
              <a:t>, </a:t>
            </a:r>
            <a:r>
              <a:rPr lang="en-US" sz="1800" b="1" dirty="0"/>
              <a:t>Cholesterol</a:t>
            </a:r>
            <a:r>
              <a:rPr lang="en-US" sz="1800" dirty="0"/>
              <a:t>, and </a:t>
            </a:r>
            <a:r>
              <a:rPr lang="en-US" sz="1800" b="1" dirty="0"/>
              <a:t>Maximum Heart Rate </a:t>
            </a:r>
            <a:r>
              <a:rPr lang="en-US" sz="1800" dirty="0"/>
              <a:t>are included.</a:t>
            </a:r>
          </a:p>
          <a:p>
            <a:r>
              <a:rPr lang="en-US" sz="1800" dirty="0"/>
              <a:t>In the </a:t>
            </a:r>
            <a:r>
              <a:rPr lang="en-US" sz="1800" b="1" dirty="0"/>
              <a:t>raw‐scale logistic model</a:t>
            </a:r>
            <a:r>
              <a:rPr lang="en-US" sz="1800" dirty="0"/>
              <a:t>, each 1 mm increase in </a:t>
            </a:r>
            <a:r>
              <a:rPr lang="en-US" sz="1800" b="1" dirty="0"/>
              <a:t>Oldpeak</a:t>
            </a:r>
            <a:r>
              <a:rPr lang="en-US" sz="1800" dirty="0"/>
              <a:t> raises the odds of </a:t>
            </a:r>
            <a:r>
              <a:rPr lang="en-US" sz="1800" b="1" dirty="0"/>
              <a:t>Heart Disease </a:t>
            </a:r>
            <a:r>
              <a:rPr lang="en-US" sz="1800" dirty="0"/>
              <a:t>by 123%, whereas every 1 bpm increase in </a:t>
            </a:r>
            <a:r>
              <a:rPr lang="en-US" sz="1800" b="1" dirty="0"/>
              <a:t>Maximum Heart Rate </a:t>
            </a:r>
            <a:r>
              <a:rPr lang="en-US" sz="1800" dirty="0"/>
              <a:t>reduces the odds by about 2%. </a:t>
            </a:r>
            <a:r>
              <a:rPr lang="en-US" sz="1800" b="1" dirty="0"/>
              <a:t>Total Cholesterol plays a smaller role </a:t>
            </a:r>
            <a:r>
              <a:rPr lang="en-US" sz="1800" dirty="0"/>
              <a:t>in that each 1 mg/dL rise increases the odds by only 0.3%. </a:t>
            </a:r>
            <a:r>
              <a:rPr lang="en-US" sz="1800" b="1" dirty="0"/>
              <a:t>Age</a:t>
            </a:r>
            <a:r>
              <a:rPr lang="en-US" sz="1800" dirty="0"/>
              <a:t> falls between these extremes, with each additional year multiplying the odds by roughly 5%.</a:t>
            </a:r>
          </a:p>
          <a:p>
            <a:r>
              <a:rPr lang="en-US" sz="1800" dirty="0"/>
              <a:t>Standardizing those predictors amplifies their relative effects: a one–standard‐deviation jump in </a:t>
            </a:r>
            <a:r>
              <a:rPr lang="en-US" sz="1800" b="1" dirty="0"/>
              <a:t>Oldpeak</a:t>
            </a:r>
            <a:r>
              <a:rPr lang="en-US" sz="1800" dirty="0"/>
              <a:t> multiplies the odds by over 100, a 1 SD increase in </a:t>
            </a:r>
            <a:r>
              <a:rPr lang="en-US" sz="1800" b="1" dirty="0"/>
              <a:t>MaxHR</a:t>
            </a:r>
            <a:r>
              <a:rPr lang="en-US" sz="1800" dirty="0"/>
              <a:t> divides the odds by about 25, and a 1 SD rise in </a:t>
            </a:r>
            <a:r>
              <a:rPr lang="en-US" sz="1800" b="1" dirty="0"/>
              <a:t>Cholesterol</a:t>
            </a:r>
            <a:r>
              <a:rPr lang="en-US" sz="1800" dirty="0"/>
              <a:t> nearly doubles the odds. Random Forest’s feature‐importance ranking show </a:t>
            </a:r>
            <a:r>
              <a:rPr lang="en-US" sz="1800" b="1" dirty="0"/>
              <a:t>Oldpeak</a:t>
            </a:r>
            <a:r>
              <a:rPr lang="en-US" sz="1800" dirty="0"/>
              <a:t> tops the list, followed by </a:t>
            </a:r>
            <a:r>
              <a:rPr lang="en-US" sz="1800" b="1" dirty="0"/>
              <a:t>MaxHR</a:t>
            </a:r>
            <a:r>
              <a:rPr lang="en-US" sz="1800" dirty="0"/>
              <a:t>, then </a:t>
            </a:r>
            <a:r>
              <a:rPr lang="en-US" sz="1800" b="1" dirty="0"/>
              <a:t>Age</a:t>
            </a:r>
            <a:r>
              <a:rPr lang="en-US" sz="1800" dirty="0"/>
              <a:t>, and finally </a:t>
            </a:r>
            <a:r>
              <a:rPr lang="en-US" sz="1800" b="1" dirty="0"/>
              <a:t>Cholesterol</a:t>
            </a:r>
            <a:r>
              <a:rPr lang="en-US" sz="1800" dirty="0"/>
              <a:t>. (Variables with larger ranges or more distinct cut-points (like </a:t>
            </a:r>
            <a:r>
              <a:rPr lang="en-US" sz="1800" b="1" dirty="0"/>
              <a:t>Cholesterol</a:t>
            </a:r>
            <a:r>
              <a:rPr lang="en-US" sz="1800" dirty="0"/>
              <a:t>) tend to accumulate more total impurity reduction, boosting their “importance” score)</a:t>
            </a:r>
          </a:p>
          <a:p>
            <a:r>
              <a:rPr lang="en-US" sz="1800" dirty="0"/>
              <a:t>These findings underscore that markers of </a:t>
            </a:r>
            <a:r>
              <a:rPr lang="en-US" sz="1800" b="1" dirty="0"/>
              <a:t>exercise‐induced cardiac stress </a:t>
            </a:r>
            <a:r>
              <a:rPr lang="en-US" sz="1800" dirty="0"/>
              <a:t>and </a:t>
            </a:r>
            <a:r>
              <a:rPr lang="en-US" sz="1800" b="1" dirty="0"/>
              <a:t>advancing age </a:t>
            </a:r>
            <a:r>
              <a:rPr lang="en-US" sz="1800" dirty="0"/>
              <a:t>are far more influential in predicting </a:t>
            </a:r>
            <a:r>
              <a:rPr lang="en-US" sz="1800" b="1" dirty="0"/>
              <a:t>heart disease </a:t>
            </a:r>
            <a:r>
              <a:rPr lang="en-US" sz="1800" dirty="0"/>
              <a:t>than </a:t>
            </a:r>
            <a:r>
              <a:rPr lang="en-US" sz="1800" b="1" dirty="0"/>
              <a:t>total cholesterol </a:t>
            </a:r>
            <a:r>
              <a:rPr lang="en-US" sz="1800" dirty="0"/>
              <a:t>levels when all variables are considered simultaneously.</a:t>
            </a:r>
          </a:p>
          <a:p>
            <a:r>
              <a:rPr lang="en-US" sz="1800" dirty="0"/>
              <a:t>More studies and collection of more robust data to include possible cofactors or confounding variables such as nutrition, genes, blood compounds, and environmental exposures is needed to better understand these complex biological system relationships. The importance of multiple models and overlays can also be seen in that there are strengths and weaknesses to algorithms based on data type and structure. </a:t>
            </a:r>
          </a:p>
        </p:txBody>
      </p:sp>
    </p:spTree>
    <p:extLst>
      <p:ext uri="{BB962C8B-B14F-4D97-AF65-F5344CB8AC3E}">
        <p14:creationId xmlns:p14="http://schemas.microsoft.com/office/powerpoint/2010/main" val="24764676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ANA500_MiniProject3_Neighbor^Ryan</Template>
  <TotalTime>226</TotalTime>
  <Words>3694</Words>
  <Application>Microsoft Office PowerPoint</Application>
  <PresentationFormat>Widescreen</PresentationFormat>
  <Paragraphs>174</Paragraphs>
  <Slides>29</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Aptos</vt:lpstr>
      <vt:lpstr>Arial</vt:lpstr>
      <vt:lpstr>Calibri</vt:lpstr>
      <vt:lpstr>Calibri Light</vt:lpstr>
      <vt:lpstr>Cambria Math</vt:lpstr>
      <vt:lpstr>Times New Roman</vt:lpstr>
      <vt:lpstr>Office Theme</vt:lpstr>
      <vt:lpstr>Investigation of Cholesterol and Heart Disease Class Project GitHub Repository</vt:lpstr>
      <vt:lpstr>Problem Statement</vt:lpstr>
      <vt:lpstr>Hypothesis Formulation</vt:lpstr>
      <vt:lpstr>Acquire</vt:lpstr>
      <vt:lpstr>Acquire (Interpretation)</vt:lpstr>
      <vt:lpstr>Acquire (Interpretation)</vt:lpstr>
      <vt:lpstr>Prepare</vt:lpstr>
      <vt:lpstr>Prepare (Interpretation)</vt:lpstr>
      <vt:lpstr>Prepare (Interpretation)</vt:lpstr>
      <vt:lpstr>Analyze data</vt:lpstr>
      <vt:lpstr>Analyze/Report Data – Age Histogram </vt:lpstr>
      <vt:lpstr>Analyze/Report Data – Cholesterol Histogram </vt:lpstr>
      <vt:lpstr>Analyze/Report Data – MaxHR Histogram </vt:lpstr>
      <vt:lpstr>Analyze/Report Data – Oldpeak Histogram </vt:lpstr>
      <vt:lpstr>Analyze/Report Data – Fasting BS</vt:lpstr>
      <vt:lpstr>Analyze/Report Data – HeartDisease</vt:lpstr>
      <vt:lpstr>Analyze/Report Data – Cholesterol vs. Heart Disease</vt:lpstr>
      <vt:lpstr>Analyze/Report Data – Age vs MaxHR</vt:lpstr>
      <vt:lpstr>Analyze/Report Data – Age vs Normalized Biometrics</vt:lpstr>
      <vt:lpstr>Analyze/ Report – Logistic Regression Model</vt:lpstr>
      <vt:lpstr>Analyze/ Report – LR Model with Age (Raw)</vt:lpstr>
      <vt:lpstr>Analyze/ Report – SVM Model (Normalized)</vt:lpstr>
      <vt:lpstr>Analyze/ Report – Random Forest (Raw)</vt:lpstr>
      <vt:lpstr>Report/Act – Random Forest(Raw)</vt:lpstr>
      <vt:lpstr>Report/Act</vt:lpstr>
      <vt:lpstr>Report/Act – LR-Hyperparameter Tuning, Gradient Boosting, XG Boost, FF Neural Network, &amp; LSTM Neural Network </vt:lpstr>
      <vt:lpstr>Report/Act</vt:lpstr>
      <vt:lpstr>Report/Act</vt:lpstr>
      <vt:lpstr>Report/Act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LRCS LLC</dc:creator>
  <cp:lastModifiedBy>LRCS LLC</cp:lastModifiedBy>
  <cp:revision>1</cp:revision>
  <dcterms:created xsi:type="dcterms:W3CDTF">2025-08-31T14:36:25Z</dcterms:created>
  <dcterms:modified xsi:type="dcterms:W3CDTF">2025-08-31T18:23:16Z</dcterms:modified>
</cp:coreProperties>
</file>